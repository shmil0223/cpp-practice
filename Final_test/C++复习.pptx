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47"/>
  </p:handoutMasterIdLst>
  <p:sldIdLst>
    <p:sldId id="563" r:id="rId3"/>
    <p:sldId id="449" r:id="rId5"/>
    <p:sldId id="452" r:id="rId6"/>
    <p:sldId id="565" r:id="rId7"/>
    <p:sldId id="567" r:id="rId8"/>
    <p:sldId id="466" r:id="rId9"/>
    <p:sldId id="568" r:id="rId10"/>
    <p:sldId id="569" r:id="rId11"/>
    <p:sldId id="566" r:id="rId12"/>
    <p:sldId id="570" r:id="rId13"/>
    <p:sldId id="571" r:id="rId14"/>
    <p:sldId id="572" r:id="rId15"/>
    <p:sldId id="573" r:id="rId16"/>
    <p:sldId id="574" r:id="rId17"/>
    <p:sldId id="576" r:id="rId18"/>
    <p:sldId id="575" r:id="rId19"/>
    <p:sldId id="578" r:id="rId20"/>
    <p:sldId id="579" r:id="rId21"/>
    <p:sldId id="577" r:id="rId22"/>
    <p:sldId id="582" r:id="rId23"/>
    <p:sldId id="580" r:id="rId24"/>
    <p:sldId id="581" r:id="rId25"/>
    <p:sldId id="583" r:id="rId26"/>
    <p:sldId id="584" r:id="rId27"/>
    <p:sldId id="585" r:id="rId28"/>
    <p:sldId id="588" r:id="rId29"/>
    <p:sldId id="603" r:id="rId30"/>
    <p:sldId id="604" r:id="rId31"/>
    <p:sldId id="586" r:id="rId32"/>
    <p:sldId id="589" r:id="rId33"/>
    <p:sldId id="587" r:id="rId34"/>
    <p:sldId id="590" r:id="rId35"/>
    <p:sldId id="591" r:id="rId36"/>
    <p:sldId id="596" r:id="rId37"/>
    <p:sldId id="593" r:id="rId38"/>
    <p:sldId id="599" r:id="rId39"/>
    <p:sldId id="600" r:id="rId40"/>
    <p:sldId id="602" r:id="rId41"/>
    <p:sldId id="601" r:id="rId42"/>
    <p:sldId id="598" r:id="rId43"/>
    <p:sldId id="594" r:id="rId44"/>
    <p:sldId id="597" r:id="rId45"/>
    <p:sldId id="595" r:id="rId46"/>
  </p:sldIdLst>
  <p:sldSz cx="9144000" cy="6858000" type="screen4x3"/>
  <p:notesSz cx="6858000" cy="9144000"/>
  <p:custShowLst>
    <p:custShow name="Custom Show 1" id="0">
      <p:sldLst/>
    </p:custShow>
  </p:custShowLst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1010"/>
    <p:restoredTop sz="84063"/>
  </p:normalViewPr>
  <p:slideViewPr>
    <p:cSldViewPr>
      <p:cViewPr>
        <p:scale>
          <a:sx n="64" d="100"/>
          <a:sy n="64" d="100"/>
        </p:scale>
        <p:origin x="334" y="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 showFormatting="0">
    <p:cViewPr>
      <p:scale>
        <a:sx n="50" d="100"/>
        <a:sy n="5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0" Type="http://schemas.openxmlformats.org/officeDocument/2006/relationships/tableStyles" Target="tableStyles.xml"/><Relationship Id="rId5" Type="http://schemas.openxmlformats.org/officeDocument/2006/relationships/slide" Target="slides/slide2.xml"/><Relationship Id="rId49" Type="http://schemas.openxmlformats.org/officeDocument/2006/relationships/viewProps" Target="viewProps.xml"/><Relationship Id="rId48" Type="http://schemas.openxmlformats.org/officeDocument/2006/relationships/presProps" Target="presProps.xml"/><Relationship Id="rId47" Type="http://schemas.openxmlformats.org/officeDocument/2006/relationships/handoutMaster" Target="handoutMasters/handoutMaster1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png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kumimoji="1"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kumimoji="1" sz="12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7D42315-5B8B-4561-A3D6-0A68A1586593}" type="datetimeFigureOut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kumimoji="1"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1" sz="12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44B9BC8-ACC4-4536-A667-677FFFBE427E}" type="slidenum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6387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8435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531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>
                <a:ea typeface="宋体" panose="02010600030101010101" pitchFamily="2" charset="-122"/>
              </a:rPr>
              <a:t>数值类型数据，非数值类型数据</a:t>
            </a:r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699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>
                <a:ea typeface="宋体" panose="02010600030101010101" pitchFamily="2" charset="-122"/>
              </a:rPr>
              <a:t>Break</a:t>
            </a:r>
            <a:endParaRPr lang="en-US" altLang="zh-CN" dirty="0">
              <a:ea typeface="宋体" panose="02010600030101010101" pitchFamily="2" charset="-122"/>
            </a:endParaRPr>
          </a:p>
          <a:p>
            <a:pPr lvl="0"/>
            <a:r>
              <a:rPr lang="en-US" altLang="zh-CN" dirty="0">
                <a:ea typeface="宋体" panose="02010600030101010101" pitchFamily="2" charset="-122"/>
              </a:rPr>
              <a:t>Continue(X)</a:t>
            </a:r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4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>
                <a:ea typeface="宋体" panose="02010600030101010101" pitchFamily="2" charset="-122"/>
              </a:rPr>
              <a:t>反斜杠</a:t>
            </a:r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939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sz="800" dirty="0">
                <a:ea typeface="宋体" panose="02010600030101010101" pitchFamily="2" charset="-122"/>
              </a:rPr>
              <a:t>cin</a:t>
            </a:r>
            <a:r>
              <a:rPr lang="zh-CN" altLang="en-US" sz="800" dirty="0">
                <a:ea typeface="宋体" panose="02010600030101010101" pitchFamily="2" charset="-122"/>
              </a:rPr>
              <a:t>遇到空白字符会停止读取</a:t>
            </a:r>
            <a:endParaRPr lang="en-US" altLang="zh-CN" sz="800" dirty="0">
              <a:ea typeface="宋体" panose="02010600030101010101" pitchFamily="2" charset="-122"/>
            </a:endParaRPr>
          </a:p>
          <a:p>
            <a:pPr lvl="0"/>
            <a:r>
              <a:rPr lang="zh-CN" altLang="en-US" sz="800" dirty="0">
                <a:ea typeface="宋体" panose="02010600030101010101" pitchFamily="2" charset="-122"/>
              </a:rPr>
              <a:t>当使用</a:t>
            </a:r>
            <a:r>
              <a:rPr lang="en-US" altLang="zh-CN" sz="800" dirty="0">
                <a:ea typeface="宋体" panose="02010600030101010101" pitchFamily="2" charset="-122"/>
              </a:rPr>
              <a:t>strcmp</a:t>
            </a:r>
            <a:r>
              <a:rPr lang="zh-CN" altLang="en-US" sz="800" dirty="0">
                <a:ea typeface="宋体" panose="02010600030101010101" pitchFamily="2" charset="-122"/>
              </a:rPr>
              <a:t>函数时，确保您的字符串是以空字符</a:t>
            </a:r>
            <a:r>
              <a:rPr lang="en-US" altLang="zh-CN" sz="800" dirty="0">
                <a:ea typeface="宋体" panose="02010600030101010101" pitchFamily="2" charset="-122"/>
              </a:rPr>
              <a:t>'\0'</a:t>
            </a:r>
            <a:r>
              <a:rPr lang="zh-CN" altLang="en-US" sz="800" dirty="0">
                <a:ea typeface="宋体" panose="02010600030101010101" pitchFamily="2" charset="-122"/>
              </a:rPr>
              <a:t>结尾的</a:t>
            </a:r>
            <a:r>
              <a:rPr lang="en-US" altLang="zh-CN" sz="800" dirty="0">
                <a:ea typeface="宋体" panose="02010600030101010101" pitchFamily="2" charset="-122"/>
              </a:rPr>
              <a:t>C</a:t>
            </a:r>
            <a:r>
              <a:rPr lang="zh-CN" altLang="en-US" sz="800" dirty="0">
                <a:ea typeface="宋体" panose="02010600030101010101" pitchFamily="2" charset="-122"/>
              </a:rPr>
              <a:t>风格字符串。此外，</a:t>
            </a:r>
            <a:r>
              <a:rPr lang="en-US" altLang="zh-CN" sz="800" dirty="0">
                <a:ea typeface="宋体" panose="02010600030101010101" pitchFamily="2" charset="-122"/>
              </a:rPr>
              <a:t>strcmp</a:t>
            </a:r>
            <a:r>
              <a:rPr lang="zh-CN" altLang="en-US" sz="800" dirty="0">
                <a:ea typeface="宋体" panose="02010600030101010101" pitchFamily="2" charset="-122"/>
              </a:rPr>
              <a:t>函数是区分大小写的，这意味着它会根据</a:t>
            </a:r>
            <a:r>
              <a:rPr lang="en-US" altLang="zh-CN" sz="800" dirty="0">
                <a:ea typeface="宋体" panose="02010600030101010101" pitchFamily="2" charset="-122"/>
              </a:rPr>
              <a:t>ASCII</a:t>
            </a:r>
            <a:r>
              <a:rPr lang="zh-CN" altLang="en-US" sz="800" dirty="0">
                <a:ea typeface="宋体" panose="02010600030101010101" pitchFamily="2" charset="-122"/>
              </a:rPr>
              <a:t>值来比较字符。</a:t>
            </a:r>
            <a:endParaRPr lang="zh-CN" altLang="en-US" sz="8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1987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endParaRPr lang="zh-CN" altLang="en-US" sz="8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4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endParaRPr lang="zh-CN" altLang="en-US" sz="8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608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endParaRPr lang="zh-CN" altLang="en-US" sz="8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0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endParaRPr lang="zh-CN" altLang="en-US" sz="8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8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0179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endParaRPr lang="zh-CN" altLang="en-US" sz="8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6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2227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endParaRPr lang="zh-CN" altLang="en-US" sz="8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4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4275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sz="800" dirty="0">
                <a:solidFill>
                  <a:srgbClr val="CC0099"/>
                </a:solidFill>
                <a:ea typeface="宋体" panose="02010600030101010101" pitchFamily="2" charset="-122"/>
              </a:rPr>
              <a:t>int *pValue = </a:t>
            </a:r>
            <a:r>
              <a:rPr lang="en-US" altLang="zh-CN" sz="800" dirty="0">
                <a:solidFill>
                  <a:srgbClr val="33CC33"/>
                </a:solidFill>
                <a:ea typeface="宋体" panose="02010600030101010101" pitchFamily="2" charset="-122"/>
              </a:rPr>
              <a:t>new</a:t>
            </a:r>
            <a:r>
              <a:rPr lang="en-US" altLang="zh-CN" sz="800" dirty="0">
                <a:solidFill>
                  <a:srgbClr val="CC0099"/>
                </a:solidFill>
                <a:ea typeface="宋体" panose="02010600030101010101" pitchFamily="2" charset="-122"/>
              </a:rPr>
              <a:t> int(3);</a:t>
            </a:r>
            <a:endParaRPr lang="en-US" altLang="zh-CN" sz="800" dirty="0">
              <a:solidFill>
                <a:srgbClr val="CC0099"/>
              </a:solidFill>
              <a:ea typeface="宋体" panose="02010600030101010101" pitchFamily="2" charset="-122"/>
            </a:endParaRPr>
          </a:p>
          <a:p>
            <a:pPr lvl="0"/>
            <a:endParaRPr lang="zh-CN" altLang="en-US" sz="8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32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sz="800" dirty="0">
                <a:solidFill>
                  <a:srgbClr val="CC0099"/>
                </a:solidFill>
                <a:ea typeface="宋体" panose="02010600030101010101" pitchFamily="2" charset="-122"/>
              </a:rPr>
              <a:t>int *pValue = </a:t>
            </a:r>
            <a:r>
              <a:rPr lang="en-US" altLang="zh-CN" sz="800" dirty="0">
                <a:solidFill>
                  <a:srgbClr val="33CC33"/>
                </a:solidFill>
                <a:ea typeface="宋体" panose="02010600030101010101" pitchFamily="2" charset="-122"/>
              </a:rPr>
              <a:t>new</a:t>
            </a:r>
            <a:r>
              <a:rPr lang="en-US" altLang="zh-CN" sz="800" dirty="0">
                <a:solidFill>
                  <a:srgbClr val="CC0099"/>
                </a:solidFill>
                <a:ea typeface="宋体" panose="02010600030101010101" pitchFamily="2" charset="-122"/>
              </a:rPr>
              <a:t> int(3);</a:t>
            </a:r>
            <a:endParaRPr lang="en-US" altLang="zh-CN" sz="800" dirty="0">
              <a:solidFill>
                <a:srgbClr val="CC0099"/>
              </a:solidFill>
              <a:ea typeface="宋体" panose="02010600030101010101" pitchFamily="2" charset="-122"/>
            </a:endParaRPr>
          </a:p>
          <a:p>
            <a:pPr lvl="0"/>
            <a:endParaRPr lang="zh-CN" altLang="en-US" sz="8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70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8371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sz="800" dirty="0">
                <a:solidFill>
                  <a:srgbClr val="CC0099"/>
                </a:solidFill>
                <a:ea typeface="宋体" panose="02010600030101010101" pitchFamily="2" charset="-122"/>
              </a:rPr>
              <a:t>int *pValue = </a:t>
            </a:r>
            <a:r>
              <a:rPr lang="en-US" altLang="zh-CN" sz="800" dirty="0">
                <a:solidFill>
                  <a:srgbClr val="33CC33"/>
                </a:solidFill>
                <a:ea typeface="宋体" panose="02010600030101010101" pitchFamily="2" charset="-122"/>
              </a:rPr>
              <a:t>new</a:t>
            </a:r>
            <a:r>
              <a:rPr lang="en-US" altLang="zh-CN" sz="800" dirty="0">
                <a:solidFill>
                  <a:srgbClr val="CC0099"/>
                </a:solidFill>
                <a:ea typeface="宋体" panose="02010600030101010101" pitchFamily="2" charset="-122"/>
              </a:rPr>
              <a:t> int(3);</a:t>
            </a:r>
            <a:endParaRPr lang="en-US" altLang="zh-CN" sz="800" dirty="0">
              <a:solidFill>
                <a:srgbClr val="CC0099"/>
              </a:solidFill>
              <a:ea typeface="宋体" panose="02010600030101010101" pitchFamily="2" charset="-122"/>
            </a:endParaRPr>
          </a:p>
          <a:p>
            <a:pPr lvl="0"/>
            <a:endParaRPr lang="zh-CN" altLang="en-US" sz="8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418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0419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endParaRPr lang="zh-CN" altLang="en-US" sz="8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6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2467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endParaRPr lang="zh-CN" altLang="en-US" sz="8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4514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4515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endParaRPr lang="zh-CN" altLang="en-US" sz="8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656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656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endParaRPr lang="zh-CN" altLang="en-US" sz="8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610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8611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endParaRPr lang="zh-CN" altLang="en-US" sz="8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658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0659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endParaRPr lang="zh-CN" altLang="en-US" sz="8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2706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2707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endParaRPr lang="zh-CN" altLang="en-US" sz="8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4754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4755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endParaRPr lang="zh-CN" altLang="en-US" sz="8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680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680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endParaRPr lang="zh-CN" altLang="en-US" sz="8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8850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8851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endParaRPr lang="zh-CN" altLang="en-US" sz="8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0898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0899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endParaRPr lang="zh-CN" altLang="en-US" sz="8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2946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2947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endParaRPr lang="zh-CN" altLang="en-US" sz="8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4994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4995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endParaRPr lang="zh-CN" altLang="en-US" sz="8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704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704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endParaRPr lang="zh-CN" altLang="en-US" sz="8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9090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9091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endParaRPr lang="zh-CN" altLang="en-US" sz="8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NULL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7" name="Group 29"/>
          <p:cNvGrpSpPr/>
          <p:nvPr/>
        </p:nvGrpSpPr>
        <p:grpSpPr>
          <a:xfrm>
            <a:off x="1143000" y="628650"/>
            <a:ext cx="8012113" cy="2571750"/>
            <a:chOff x="720" y="396"/>
            <a:chExt cx="5047" cy="1620"/>
          </a:xfrm>
        </p:grpSpPr>
        <p:sp>
          <p:nvSpPr>
            <p:cNvPr id="13" name="Rectangle 18"/>
            <p:cNvSpPr>
              <a:spLocks noChangeArrowheads="1"/>
            </p:cNvSpPr>
            <p:nvPr/>
          </p:nvSpPr>
          <p:spPr bwMode="gray">
            <a:xfrm>
              <a:off x="1081" y="396"/>
              <a:ext cx="4686" cy="1596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14" name="Rectangle 28"/>
            <p:cNvSpPr>
              <a:spLocks noChangeArrowheads="1"/>
            </p:cNvSpPr>
            <p:nvPr/>
          </p:nvSpPr>
          <p:spPr bwMode="gray">
            <a:xfrm>
              <a:off x="720" y="1440"/>
              <a:ext cx="576" cy="576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</p:txBody>
        </p:sp>
      </p:grpSp>
      <p:sp>
        <p:nvSpPr>
          <p:cNvPr id="15" name="Rectangle 17"/>
          <p:cNvSpPr>
            <a:spLocks noChangeArrowheads="1"/>
          </p:cNvSpPr>
          <p:nvPr/>
        </p:nvSpPr>
        <p:spPr bwMode="gray">
          <a:xfrm>
            <a:off x="1130300" y="3141663"/>
            <a:ext cx="8013700" cy="5746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6" name="Rectangle 19"/>
          <p:cNvSpPr>
            <a:spLocks noChangeArrowheads="1"/>
          </p:cNvSpPr>
          <p:nvPr/>
        </p:nvSpPr>
        <p:spPr bwMode="gray">
          <a:xfrm>
            <a:off x="573088" y="2520950"/>
            <a:ext cx="576263" cy="6413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7" name="Rectangle 20"/>
          <p:cNvSpPr>
            <a:spLocks noChangeArrowheads="1"/>
          </p:cNvSpPr>
          <p:nvPr/>
        </p:nvSpPr>
        <p:spPr bwMode="gray">
          <a:xfrm>
            <a:off x="1716088" y="628650"/>
            <a:ext cx="566738" cy="636588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8" name="Rectangle 21"/>
          <p:cNvSpPr>
            <a:spLocks noChangeArrowheads="1"/>
          </p:cNvSpPr>
          <p:nvPr/>
        </p:nvSpPr>
        <p:spPr bwMode="gray">
          <a:xfrm>
            <a:off x="2278063" y="0"/>
            <a:ext cx="585788" cy="635000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9" name="Rectangle 22"/>
          <p:cNvSpPr>
            <a:spLocks noChangeArrowheads="1"/>
          </p:cNvSpPr>
          <p:nvPr/>
        </p:nvSpPr>
        <p:spPr bwMode="gray">
          <a:xfrm>
            <a:off x="2281238" y="628650"/>
            <a:ext cx="585788" cy="6318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20" name="Rectangle 23"/>
          <p:cNvSpPr>
            <a:spLocks noChangeArrowheads="1"/>
          </p:cNvSpPr>
          <p:nvPr/>
        </p:nvSpPr>
        <p:spPr bwMode="gray">
          <a:xfrm>
            <a:off x="1141413" y="1262063"/>
            <a:ext cx="574675" cy="625475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21" name="Rectangle 24"/>
          <p:cNvSpPr>
            <a:spLocks noChangeArrowheads="1"/>
          </p:cNvSpPr>
          <p:nvPr/>
        </p:nvSpPr>
        <p:spPr bwMode="gray">
          <a:xfrm>
            <a:off x="1716088" y="1263650"/>
            <a:ext cx="566738" cy="622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22" name="Rectangle 25"/>
          <p:cNvSpPr>
            <a:spLocks noChangeArrowheads="1"/>
          </p:cNvSpPr>
          <p:nvPr/>
        </p:nvSpPr>
        <p:spPr bwMode="gray">
          <a:xfrm>
            <a:off x="573088" y="1885950"/>
            <a:ext cx="576263" cy="644525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23" name="Rectangle 26"/>
          <p:cNvSpPr>
            <a:spLocks noChangeArrowheads="1"/>
          </p:cNvSpPr>
          <p:nvPr/>
        </p:nvSpPr>
        <p:spPr bwMode="gray">
          <a:xfrm>
            <a:off x="1141413" y="1885950"/>
            <a:ext cx="576263" cy="6445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24" name="Rectangle 27"/>
          <p:cNvSpPr>
            <a:spLocks noChangeArrowheads="1"/>
          </p:cNvSpPr>
          <p:nvPr/>
        </p:nvSpPr>
        <p:spPr bwMode="gray">
          <a:xfrm>
            <a:off x="0" y="2528888"/>
            <a:ext cx="574675" cy="633413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pic>
        <p:nvPicPr>
          <p:cNvPr id="2068" name="Picture 30" descr="http://www.tju.edu.cn/yx/images/badge.gif"/>
          <p:cNvPicPr>
            <a:picLocks noChangeAspect="1"/>
          </p:cNvPicPr>
          <p:nvPr/>
        </p:nvPicPr>
        <p:blipFill>
          <a:blip r:embed="rId2" r:link="rId3"/>
          <a:stretch>
            <a:fillRect/>
          </a:stretch>
        </p:blipFill>
        <p:spPr>
          <a:xfrm>
            <a:off x="0" y="0"/>
            <a:ext cx="792163" cy="7858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1752600" y="1800225"/>
            <a:ext cx="6629400" cy="1012825"/>
          </a:xfrm>
        </p:spPr>
        <p:txBody>
          <a:bodyPr/>
          <a:lstStyle>
            <a:lvl1pPr algn="ctr">
              <a:defRPr sz="4400" i="1">
                <a:latin typeface="Verdana" panose="020B0604030504040204" pitchFamily="34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600200" y="3276600"/>
            <a:ext cx="6324600" cy="3810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1800" b="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单击此处编辑母版副标题样式</a:t>
            </a:r>
            <a:endParaRPr lang="en-US" altLang="zh-CN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A12AA9B-AB2C-47B3-8594-CB1DE03CBE75}" type="slidenum"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 Unicode" panose="020B0602030504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ucida Sans Unicode" panose="020B0602030504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>
            <a:spLocks noChangeArrowheads="1"/>
          </p:cNvSpPr>
          <p:nvPr/>
        </p:nvSpPr>
        <p:spPr bwMode="auto">
          <a:xfrm>
            <a:off x="7462838" y="6640513"/>
            <a:ext cx="184150" cy="4619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3" name="文本框 2"/>
          <p:cNvSpPr txBox="1">
            <a:spLocks noChangeArrowheads="1"/>
          </p:cNvSpPr>
          <p:nvPr/>
        </p:nvSpPr>
        <p:spPr bwMode="auto">
          <a:xfrm>
            <a:off x="2765425" y="-4762"/>
            <a:ext cx="6378575" cy="3698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程序设计原理知识点总结</a:t>
            </a: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24888" y="6545263"/>
            <a:ext cx="519113" cy="32067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D94111D-E309-4074-BD7F-8A399A039659}" type="slidenum"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 Unicode" panose="020B0602030504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ucida Sans Unicode" panose="020B0602030504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>
            <a:spLocks noChangeArrowheads="1"/>
          </p:cNvSpPr>
          <p:nvPr/>
        </p:nvSpPr>
        <p:spPr bwMode="auto">
          <a:xfrm>
            <a:off x="2765425" y="-4762"/>
            <a:ext cx="6378575" cy="3698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程序设计概述和</a:t>
            </a:r>
            <a:r>
              <a: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C++</a:t>
            </a:r>
            <a:r>
              <a: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基础知识</a:t>
            </a: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3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24888" y="6545263"/>
            <a:ext cx="519113" cy="32067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BFE9E4A-FC2C-4F5C-BB8A-550BA475CFD4}" type="slidenum"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 Unicode" panose="020B0602030504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ucida Sans Unicode" panose="020B0602030504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>
            <a:spLocks noChangeArrowheads="1"/>
          </p:cNvSpPr>
          <p:nvPr/>
        </p:nvSpPr>
        <p:spPr bwMode="auto">
          <a:xfrm>
            <a:off x="2765425" y="-4762"/>
            <a:ext cx="6378575" cy="3698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程序设计概述和</a:t>
            </a:r>
            <a:r>
              <a: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C++</a:t>
            </a:r>
            <a:r>
              <a: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基础知识</a:t>
            </a: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95288" y="1125538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86288" y="1125538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3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24888" y="6545263"/>
            <a:ext cx="519113" cy="32067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CFE41FA-537E-4FB0-8F41-1746BFFEA8B1}" type="slidenum"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 Unicode" panose="020B0602030504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ucida Sans Unicode" panose="020B0602030504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>
            <a:spLocks noChangeArrowheads="1"/>
          </p:cNvSpPr>
          <p:nvPr/>
        </p:nvSpPr>
        <p:spPr bwMode="auto">
          <a:xfrm>
            <a:off x="2765425" y="-4762"/>
            <a:ext cx="6378575" cy="3698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程序设计概述和</a:t>
            </a:r>
            <a:r>
              <a: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C++</a:t>
            </a:r>
            <a:r>
              <a: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基础知识</a:t>
            </a: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3" name="Rectangle 6"/>
          <p:cNvSpPr>
            <a:spLocks noGrp="1" noChangeArrowheads="1"/>
          </p:cNvSpPr>
          <p:nvPr>
            <p:ph type="sldNum" sz="quarter" idx="14"/>
          </p:nvPr>
        </p:nvSpPr>
        <p:spPr bwMode="auto">
          <a:xfrm>
            <a:off x="8624888" y="6545263"/>
            <a:ext cx="519113" cy="32067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403D784-CF62-4DEC-9633-FD3F103599EC}" type="slidenum"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 Unicode" panose="020B0602030504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ucida Sans Unicode" panose="020B0602030504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>
            <a:spLocks noChangeArrowheads="1"/>
          </p:cNvSpPr>
          <p:nvPr/>
        </p:nvSpPr>
        <p:spPr bwMode="auto">
          <a:xfrm>
            <a:off x="2765425" y="-4762"/>
            <a:ext cx="6378575" cy="3698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程序设计概述和</a:t>
            </a:r>
            <a:r>
              <a: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C++</a:t>
            </a:r>
            <a:r>
              <a: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基础知识</a:t>
            </a: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3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24888" y="6545263"/>
            <a:ext cx="519113" cy="32067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8724ACB-CC3F-4688-BC67-A7D807981007}" type="slidenum"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 Unicode" panose="020B0602030504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ucida Sans Unicode" panose="020B0602030504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>
            <a:spLocks noChangeArrowheads="1"/>
          </p:cNvSpPr>
          <p:nvPr/>
        </p:nvSpPr>
        <p:spPr bwMode="auto">
          <a:xfrm>
            <a:off x="2765425" y="-4762"/>
            <a:ext cx="6378575" cy="3698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程序设计概述和</a:t>
            </a:r>
            <a:r>
              <a: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C++</a:t>
            </a:r>
            <a:r>
              <a: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基础知识</a:t>
            </a: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24888" y="6545263"/>
            <a:ext cx="519113" cy="32067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C9B4FA-6627-4460-8189-2819D378E49C}" type="slidenum"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 Unicode" panose="020B0602030504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ucida Sans Unicode" panose="020B0602030504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>
            <a:spLocks noChangeArrowheads="1"/>
          </p:cNvSpPr>
          <p:nvPr/>
        </p:nvSpPr>
        <p:spPr bwMode="auto">
          <a:xfrm>
            <a:off x="2765425" y="-4762"/>
            <a:ext cx="6378575" cy="3698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程序设计概述和</a:t>
            </a:r>
            <a:r>
              <a: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C++</a:t>
            </a:r>
            <a:r>
              <a: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基础知识</a:t>
            </a: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3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24888" y="6545263"/>
            <a:ext cx="519113" cy="32067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5778CCF-DB02-439B-A417-4BE4498EEBEB}" type="slidenum"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 Unicode" panose="020B0602030504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ucida Sans Unicode" panose="020B0602030504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>
            <a:spLocks noChangeArrowheads="1"/>
          </p:cNvSpPr>
          <p:nvPr/>
        </p:nvSpPr>
        <p:spPr bwMode="auto">
          <a:xfrm>
            <a:off x="2765425" y="-4762"/>
            <a:ext cx="6378575" cy="3698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程序设计概述和</a:t>
            </a:r>
            <a:r>
              <a: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C++</a:t>
            </a:r>
            <a:r>
              <a: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基础知识</a:t>
            </a: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单击图标添加图片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n-lt"/>
              <a:ea typeface="+mn-ea"/>
              <a:cs typeface="楷体_GB231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3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8624888" y="6545263"/>
            <a:ext cx="519113" cy="32067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FFA0664-5E2F-41F6-B29A-B66E123ADBE6}" type="slidenum"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 Unicode" panose="020B0602030504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ucida Sans Unicode" panose="020B0602030504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页脚占位符 5"/>
          <p:cNvSpPr>
            <a:spLocks noGrp="1"/>
          </p:cNvSpPr>
          <p:nvPr>
            <p:ph type="ftr" sz="quarter" idx="3"/>
          </p:nvPr>
        </p:nvSpPr>
        <p:spPr>
          <a:xfrm>
            <a:off x="684213" y="6165850"/>
            <a:ext cx="7380288" cy="3206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>
            <a:spLocks noChangeArrowheads="1"/>
          </p:cNvSpPr>
          <p:nvPr/>
        </p:nvSpPr>
        <p:spPr bwMode="auto">
          <a:xfrm>
            <a:off x="2765425" y="-4762"/>
            <a:ext cx="6378575" cy="3698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程序设计概述和</a:t>
            </a:r>
            <a:r>
              <a: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C++</a:t>
            </a:r>
            <a:r>
              <a: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基础知识</a:t>
            </a: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3" name="灯片编号占位符 3"/>
          <p:cNvSpPr>
            <a:spLocks noGrp="1"/>
          </p:cNvSpPr>
          <p:nvPr>
            <p:ph type="sldNum" sz="quarter" idx="4"/>
          </p:nvPr>
        </p:nvSpPr>
        <p:spPr bwMode="auto">
          <a:xfrm>
            <a:off x="8624888" y="6545263"/>
            <a:ext cx="519113" cy="32067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30971E4-F079-49A6-A977-E51E5DADBB4E}" type="slidenum"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 Unicode" panose="020B0602030504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ucida Sans Unicode" panose="020B0602030504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页脚占位符 4"/>
          <p:cNvSpPr>
            <a:spLocks noGrp="1"/>
          </p:cNvSpPr>
          <p:nvPr>
            <p:ph type="ftr" sz="quarter" idx="3"/>
          </p:nvPr>
        </p:nvSpPr>
        <p:spPr>
          <a:xfrm>
            <a:off x="684213" y="6165850"/>
            <a:ext cx="7380288" cy="3206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>
            <a:spLocks noChangeArrowheads="1"/>
          </p:cNvSpPr>
          <p:nvPr/>
        </p:nvSpPr>
        <p:spPr bwMode="auto">
          <a:xfrm>
            <a:off x="2765425" y="-4762"/>
            <a:ext cx="6378575" cy="3698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程序设计概述和</a:t>
            </a:r>
            <a:r>
              <a: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C++</a:t>
            </a:r>
            <a:r>
              <a: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基础知识</a:t>
            </a: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67488" y="457200"/>
            <a:ext cx="2057400" cy="59166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95288" y="457200"/>
            <a:ext cx="6019800" cy="59166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3" name="灯片编号占位符 3"/>
          <p:cNvSpPr>
            <a:spLocks noGrp="1"/>
          </p:cNvSpPr>
          <p:nvPr>
            <p:ph type="sldNum" sz="quarter" idx="4"/>
          </p:nvPr>
        </p:nvSpPr>
        <p:spPr bwMode="auto">
          <a:xfrm>
            <a:off x="8624888" y="6545263"/>
            <a:ext cx="519113" cy="32067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169D383-4466-404D-ADD8-AB8D5FC224D4}" type="slidenum"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 Unicode" panose="020B0602030504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ucida Sans Unicode" panose="020B0602030504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页脚占位符 4"/>
          <p:cNvSpPr>
            <a:spLocks noGrp="1"/>
          </p:cNvSpPr>
          <p:nvPr>
            <p:ph type="ftr" sz="quarter" idx="3"/>
          </p:nvPr>
        </p:nvSpPr>
        <p:spPr>
          <a:xfrm>
            <a:off x="684213" y="6165850"/>
            <a:ext cx="7380288" cy="3206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>
            <a:spLocks noChangeArrowheads="1"/>
          </p:cNvSpPr>
          <p:nvPr/>
        </p:nvSpPr>
        <p:spPr bwMode="auto">
          <a:xfrm>
            <a:off x="2765425" y="-4762"/>
            <a:ext cx="6378575" cy="3698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程序设计概述和</a:t>
            </a:r>
            <a:r>
              <a: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C++</a:t>
            </a:r>
            <a:r>
              <a: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基础知识</a:t>
            </a: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395288" y="457200"/>
            <a:ext cx="8229600" cy="59166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3" name="灯片编号占位符 2"/>
          <p:cNvSpPr>
            <a:spLocks noGrp="1"/>
          </p:cNvSpPr>
          <p:nvPr>
            <p:ph type="sldNum" sz="quarter" idx="4"/>
          </p:nvPr>
        </p:nvSpPr>
        <p:spPr bwMode="auto">
          <a:xfrm>
            <a:off x="8624888" y="6545263"/>
            <a:ext cx="519113" cy="32067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CD84A01-6CD8-4AAF-8ED0-B65B0E76E71B}" type="slidenum"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 Unicode" panose="020B0602030504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ucida Sans Unicode" panose="020B0602030504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页脚占位符 3"/>
          <p:cNvSpPr>
            <a:spLocks noGrp="1"/>
          </p:cNvSpPr>
          <p:nvPr>
            <p:ph type="ftr" sz="quarter" idx="3"/>
          </p:nvPr>
        </p:nvSpPr>
        <p:spPr>
          <a:xfrm>
            <a:off x="684213" y="6165850"/>
            <a:ext cx="7380288" cy="3206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NULL" TargetMode="External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15"/>
          <p:cNvSpPr>
            <a:spLocks noChangeArrowheads="1"/>
          </p:cNvSpPr>
          <p:nvPr/>
        </p:nvSpPr>
        <p:spPr bwMode="gray">
          <a:xfrm>
            <a:off x="655638" y="360363"/>
            <a:ext cx="8497888" cy="719138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395288" y="1125538"/>
            <a:ext cx="8229600" cy="524827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24888" y="6545263"/>
            <a:ext cx="519113" cy="3206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600">
                <a:latin typeface="Lucida Sans Unicode" panose="020B0602030504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A12AA9B-AB2C-47B3-8594-CB1DE03CBE75}" type="slidenum"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 Unicode" panose="020B0602030504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ucida Sans Unicode" panose="020B0602030504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2"/>
          <p:cNvSpPr>
            <a:spLocks noGrp="1"/>
          </p:cNvSpPr>
          <p:nvPr>
            <p:ph type="title"/>
          </p:nvPr>
        </p:nvSpPr>
        <p:spPr>
          <a:xfrm>
            <a:off x="1143000" y="457200"/>
            <a:ext cx="7391400" cy="4873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2" name="Rectangle 24"/>
          <p:cNvSpPr>
            <a:spLocks noChangeArrowheads="1"/>
          </p:cNvSpPr>
          <p:nvPr/>
        </p:nvSpPr>
        <p:spPr bwMode="gray">
          <a:xfrm>
            <a:off x="0" y="719138"/>
            <a:ext cx="328613" cy="361950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031" name="Rectangle 25"/>
          <p:cNvSpPr>
            <a:spLocks noChangeArrowheads="1"/>
          </p:cNvSpPr>
          <p:nvPr/>
        </p:nvSpPr>
        <p:spPr bwMode="gray">
          <a:xfrm>
            <a:off x="328613" y="357188"/>
            <a:ext cx="328613" cy="361950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032" name="Rectangle 26"/>
          <p:cNvSpPr>
            <a:spLocks noChangeArrowheads="1"/>
          </p:cNvSpPr>
          <p:nvPr/>
        </p:nvSpPr>
        <p:spPr bwMode="gray">
          <a:xfrm>
            <a:off x="657225" y="0"/>
            <a:ext cx="328613" cy="361950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033" name="Rectangle 28"/>
          <p:cNvSpPr>
            <a:spLocks noChangeArrowheads="1"/>
          </p:cNvSpPr>
          <p:nvPr/>
        </p:nvSpPr>
        <p:spPr bwMode="gray">
          <a:xfrm>
            <a:off x="657225" y="361950"/>
            <a:ext cx="328613" cy="361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034" name="Rectangle 29"/>
          <p:cNvSpPr>
            <a:spLocks noChangeArrowheads="1"/>
          </p:cNvSpPr>
          <p:nvPr/>
        </p:nvSpPr>
        <p:spPr bwMode="gray">
          <a:xfrm>
            <a:off x="328613" y="719138"/>
            <a:ext cx="328613" cy="361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pic>
        <p:nvPicPr>
          <p:cNvPr id="1035" name="Picture 31" descr="http://www.tju.edu.cn/yx/images/badge.gif"/>
          <p:cNvPicPr>
            <a:picLocks noChangeAspect="1"/>
          </p:cNvPicPr>
          <p:nvPr/>
        </p:nvPicPr>
        <p:blipFill>
          <a:blip r:embed="rId13" r:link="rId14"/>
          <a:stretch>
            <a:fillRect/>
          </a:stretch>
        </p:blipFill>
        <p:spPr>
          <a:xfrm>
            <a:off x="0" y="0"/>
            <a:ext cx="792163" cy="785813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fade/>
  </p:transition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+mj-lt"/>
          <a:ea typeface="+mj-ea"/>
          <a:cs typeface="楷体_GB2312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anose="02020603050405020304" pitchFamily="18" charset="0"/>
          <a:ea typeface="楷体_GB2312" pitchFamily="49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anose="02020603050405020304" pitchFamily="18" charset="0"/>
          <a:ea typeface="楷体_GB2312" pitchFamily="49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anose="02020603050405020304" pitchFamily="18" charset="0"/>
          <a:ea typeface="楷体_GB2312" pitchFamily="49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anose="02020603050405020304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33CC"/>
        </a:buClr>
        <a:buFont typeface="Wingdings" panose="05000000000000000000" pitchFamily="2" charset="2"/>
        <a:buChar char="Ø"/>
        <a:defRPr sz="2800" b="1">
          <a:solidFill>
            <a:srgbClr val="000099"/>
          </a:solidFill>
          <a:latin typeface="+mn-lt"/>
          <a:ea typeface="+mn-ea"/>
          <a:cs typeface="楷体_GB231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l"/>
        <a:defRPr sz="2800" b="1">
          <a:solidFill>
            <a:srgbClr val="000099"/>
          </a:solidFill>
          <a:latin typeface="+mn-lt"/>
          <a:ea typeface="+mn-ea"/>
          <a:cs typeface="楷体_GB231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33CC"/>
        </a:buClr>
        <a:buChar char="•"/>
        <a:defRPr sz="2400" b="1">
          <a:solidFill>
            <a:srgbClr val="000099"/>
          </a:solidFill>
          <a:latin typeface="+mn-lt"/>
          <a:ea typeface="+mn-ea"/>
          <a:cs typeface="楷体_GB231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b="1">
          <a:solidFill>
            <a:srgbClr val="000099"/>
          </a:solidFill>
          <a:latin typeface="+mn-lt"/>
          <a:ea typeface="+mn-ea"/>
          <a:cs typeface="楷体_GB231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b="1">
          <a:solidFill>
            <a:srgbClr val="000099"/>
          </a:solidFill>
          <a:latin typeface="+mn-lt"/>
          <a:ea typeface="+mn-ea"/>
          <a:cs typeface="楷体_GB231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rgbClr val="000099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rgbClr val="000099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rgbClr val="000099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rgbClr val="000099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wmf"/><Relationship Id="rId1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emf"/><Relationship Id="rId1" Type="http://schemas.openxmlformats.org/officeDocument/2006/relationships/oleObject" Target="../embeddings/oleObject2.bin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wmf"/><Relationship Id="rId1" Type="http://schemas.openxmlformats.org/officeDocument/2006/relationships/oleObject" Target="../embeddings/oleObject3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4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wmf"/><Relationship Id="rId1" Type="http://schemas.openxmlformats.org/officeDocument/2006/relationships/oleObject" Target="../embeddings/oleObject4.bin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emf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emf"/><Relationship Id="rId1" Type="http://schemas.openxmlformats.org/officeDocument/2006/relationships/oleObject" Target="../embeddings/oleObject5.bin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vmlDrawing" Target="../drawings/vmlDrawing6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emf"/><Relationship Id="rId1" Type="http://schemas.openxmlformats.org/officeDocument/2006/relationships/oleObject" Target="../embeddings/oleObject6.bin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vmlDrawing" Target="../drawings/vmlDrawing7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wmf"/><Relationship Id="rId1" Type="http://schemas.openxmlformats.org/officeDocument/2006/relationships/oleObject" Target="../embeddings/oleObject7.bin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vmlDrawing" Target="../drawings/vmlDrawing8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wmf"/><Relationship Id="rId1" Type="http://schemas.openxmlformats.org/officeDocument/2006/relationships/oleObject" Target="../embeddings/oleObject8.bin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vmlDrawing" Target="../drawings/vmlDrawing9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oleObject" Target="../embeddings/oleObject9.bin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vmlDrawing" Target="../drawings/vmlDrawing10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wmf"/><Relationship Id="rId1" Type="http://schemas.openxmlformats.org/officeDocument/2006/relationships/oleObject" Target="../embeddings/oleObject10.bin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标题 1"/>
          <p:cNvSpPr>
            <a:spLocks noGrp="1"/>
          </p:cNvSpPr>
          <p:nvPr>
            <p:ph type="ctrTitle"/>
          </p:nvPr>
        </p:nvSpPr>
        <p:spPr>
          <a:xfrm>
            <a:off x="609600" y="2209800"/>
            <a:ext cx="8229600" cy="1066800"/>
          </a:xfrm>
        </p:spPr>
        <p:txBody>
          <a:bodyPr vert="horz" wrap="square" lIns="91440" tIns="45720" rIns="91440" bIns="45720" anchor="ctr" anchorCtr="0"/>
          <a:p>
            <a:pPr>
              <a:buClrTx/>
              <a:buSzTx/>
              <a:buFontTx/>
            </a:pPr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  <a:cs typeface="楷体_GB2312"/>
              </a:rPr>
              <a:t>程序设计原理</a:t>
            </a:r>
            <a:endParaRPr lang="zh-CN" altLang="en-US" sz="4800" dirty="0">
              <a:latin typeface="微软雅黑" panose="020B0503020204020204" pitchFamily="34" charset="-122"/>
              <a:ea typeface="微软雅黑" panose="020B0503020204020204" pitchFamily="34" charset="-122"/>
              <a:cs typeface="楷体_GB2312"/>
            </a:endParaRPr>
          </a:p>
        </p:txBody>
      </p:sp>
      <p:sp>
        <p:nvSpPr>
          <p:cNvPr id="15363" name="矩形 1"/>
          <p:cNvSpPr/>
          <p:nvPr/>
        </p:nvSpPr>
        <p:spPr>
          <a:xfrm>
            <a:off x="2895600" y="4267200"/>
            <a:ext cx="3657600" cy="19383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任课教师： 喻  梅</a:t>
            </a:r>
            <a:endParaRPr lang="en-US" altLang="zh-CN" sz="24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	</a:t>
            </a:r>
            <a:r>
              <a:rPr lang="zh-CN" altLang="en-US" sz="24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于瑞国</a:t>
            </a:r>
            <a:endParaRPr lang="en-US" altLang="zh-CN" sz="24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	</a:t>
            </a:r>
            <a:r>
              <a:rPr lang="zh-CN" altLang="en-US" sz="24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王建荣</a:t>
            </a:r>
            <a:endParaRPr lang="en-US" altLang="zh-CN" sz="24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	</a:t>
            </a:r>
            <a:r>
              <a:rPr lang="zh-CN" altLang="en-US" sz="24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李雪威</a:t>
            </a:r>
            <a:endParaRPr lang="en-US" altLang="zh-CN" sz="24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	</a:t>
            </a:r>
            <a:r>
              <a:rPr lang="zh-CN" altLang="en-US" sz="24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赵满坤</a:t>
            </a:r>
            <a:endParaRPr lang="en-US" altLang="zh-CN" sz="24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364" name="文本框 1"/>
          <p:cNvSpPr txBox="1"/>
          <p:nvPr/>
        </p:nvSpPr>
        <p:spPr>
          <a:xfrm>
            <a:off x="4017963" y="3198813"/>
            <a:ext cx="1108075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总复习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标题 1"/>
          <p:cNvSpPr>
            <a:spLocks noGrp="1"/>
          </p:cNvSpPr>
          <p:nvPr>
            <p:ph type="title"/>
          </p:nvPr>
        </p:nvSpPr>
        <p:spPr>
          <a:xfrm>
            <a:off x="1143000" y="457200"/>
            <a:ext cx="3733800" cy="533400"/>
          </a:xfrm>
        </p:spPr>
        <p:txBody>
          <a:bodyPr vert="horz" wrap="square" lIns="91440" tIns="45720" rIns="91440" bIns="45720" anchor="ctr" anchorCtr="0"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课程内容概览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411" name="灯片编号占位符 3"/>
          <p:cNvSpPr txBox="1">
            <a:spLocks noGrp="1"/>
          </p:cNvSpPr>
          <p:nvPr>
            <p:ph type="sldNum" sz="quarter" idx="4"/>
          </p:nvPr>
        </p:nvSpPr>
        <p:spPr>
          <a:xfrm>
            <a:off x="8624888" y="6545263"/>
            <a:ext cx="519112" cy="320675"/>
          </a:xfrm>
        </p:spPr>
        <p:txBody>
          <a:bodyPr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 dirty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  <a:cs typeface="楷体_GB2312"/>
              </a:rPr>
            </a:fld>
            <a:endParaRPr lang="en-US" altLang="zh-CN" sz="1600" b="0" dirty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  <a:cs typeface="楷体_GB2312"/>
            </a:endParaRPr>
          </a:p>
        </p:txBody>
      </p:sp>
      <p:sp>
        <p:nvSpPr>
          <p:cNvPr id="17412" name="矩形 1"/>
          <p:cNvSpPr/>
          <p:nvPr/>
        </p:nvSpPr>
        <p:spPr>
          <a:xfrm>
            <a:off x="1066800" y="1200150"/>
            <a:ext cx="7162800" cy="5570538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342900" lvl="0" indent="-342900"/>
            <a:r>
              <a:rPr lang="zh-CN" altLang="en-US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章  计算机系统与程序设计概述</a:t>
            </a:r>
            <a:endParaRPr lang="zh-CN" altLang="en-US" sz="2000" b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lvl="0" indent="-342900"/>
            <a:r>
              <a:rPr lang="zh-CN" altLang="en-US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章  </a:t>
            </a:r>
            <a:r>
              <a:rPr lang="zh-CN" altLang="zh-CN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变量声明与基本运算</a:t>
            </a:r>
            <a:endParaRPr lang="zh-CN" altLang="en-US" sz="2000" b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lvl="0" indent="-342900"/>
            <a:r>
              <a:rPr lang="zh-CN" altLang="en-US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章  分支程序设计</a:t>
            </a:r>
            <a:endParaRPr lang="zh-CN" altLang="en-US" sz="2000" b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lvl="0" indent="-342900"/>
            <a:r>
              <a:rPr lang="zh-CN" altLang="en-US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章  循环</a:t>
            </a:r>
            <a:endParaRPr lang="zh-CN" altLang="en-US" sz="2000" b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lvl="0" indent="-342900"/>
            <a:r>
              <a:rPr lang="zh-CN" altLang="en-US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章  一维数组</a:t>
            </a:r>
            <a:endParaRPr lang="en-US" altLang="zh-CN" sz="2000" b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lvl="0" indent="-342900"/>
            <a:r>
              <a:rPr lang="zh-CN" altLang="en-US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6</a:t>
            </a:r>
            <a:r>
              <a:rPr lang="zh-CN" altLang="en-US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章  多维数组</a:t>
            </a:r>
            <a:endParaRPr lang="zh-CN" altLang="en-US" sz="2000" b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lvl="0" indent="-342900"/>
            <a:r>
              <a:rPr lang="zh-CN" altLang="en-US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7</a:t>
            </a:r>
            <a:r>
              <a:rPr lang="zh-CN" altLang="en-US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章  </a:t>
            </a:r>
            <a:r>
              <a:rPr lang="zh-CN" altLang="zh-CN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字符、字符串</a:t>
            </a:r>
            <a:endParaRPr lang="zh-CN" altLang="en-US" sz="2000" b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lvl="0" indent="-342900"/>
            <a:r>
              <a:rPr lang="zh-CN" altLang="en-US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r>
              <a:rPr lang="zh-CN" altLang="en-US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章  指针和动态内存管理</a:t>
            </a:r>
            <a:endParaRPr lang="zh-CN" altLang="en-US" sz="2000" b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lvl="0" indent="-342900"/>
            <a:r>
              <a:rPr lang="zh-CN" altLang="en-US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9</a:t>
            </a:r>
            <a:r>
              <a:rPr lang="zh-CN" altLang="en-US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章  函数</a:t>
            </a:r>
            <a:endParaRPr lang="zh-CN" altLang="en-US" sz="2000" b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lvl="0" indent="-342900"/>
            <a:r>
              <a:rPr lang="zh-CN" altLang="en-US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zh-CN" altLang="en-US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章  递归程序设计</a:t>
            </a:r>
            <a:endParaRPr lang="zh-CN" altLang="en-US" sz="2000" b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lvl="0" indent="-342900"/>
            <a:r>
              <a:rPr lang="zh-CN" altLang="en-US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11</a:t>
            </a:r>
            <a:r>
              <a:rPr lang="zh-CN" altLang="en-US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章  抽象数据类型 </a:t>
            </a:r>
            <a:endParaRPr lang="en-US" altLang="zh-CN" sz="2000" b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lvl="0" indent="-342900"/>
            <a:r>
              <a:rPr lang="zh-CN" altLang="en-US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12</a:t>
            </a:r>
            <a:r>
              <a:rPr lang="zh-CN" altLang="en-US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章  对象和类</a:t>
            </a:r>
            <a:endParaRPr lang="en-US" altLang="zh-CN" sz="2000" b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lvl="0" indent="-342900"/>
            <a:r>
              <a:rPr lang="zh-CN" altLang="en-US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13</a:t>
            </a:r>
            <a:r>
              <a:rPr lang="zh-CN" altLang="en-US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章  面向对象</a:t>
            </a:r>
            <a:endParaRPr lang="en-US" altLang="zh-CN" sz="2000" b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lvl="0" indent="-342900"/>
            <a:r>
              <a:rPr lang="zh-CN" altLang="en-US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14</a:t>
            </a:r>
            <a:r>
              <a:rPr lang="zh-CN" altLang="en-US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章  文件输入输出</a:t>
            </a:r>
            <a:endParaRPr lang="en-US" altLang="zh-CN" sz="2000" b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lvl="0" indent="-342900"/>
            <a:r>
              <a:rPr lang="zh-CN" altLang="en-US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15</a:t>
            </a:r>
            <a:r>
              <a:rPr lang="zh-CN" altLang="en-US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章  </a:t>
            </a:r>
            <a:r>
              <a:rPr lang="en-US" altLang="zh-CN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STL</a:t>
            </a:r>
            <a:endParaRPr lang="zh-CN" altLang="en-US" sz="2000" b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灯片编号占位符 3"/>
          <p:cNvSpPr txBox="1">
            <a:spLocks noGrp="1"/>
          </p:cNvSpPr>
          <p:nvPr>
            <p:ph type="sldNum" sz="quarter" idx="4"/>
          </p:nvPr>
        </p:nvSpPr>
        <p:spPr>
          <a:xfrm>
            <a:off x="8624888" y="6545263"/>
            <a:ext cx="519112" cy="320675"/>
          </a:xfrm>
        </p:spPr>
        <p:txBody>
          <a:bodyPr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 dirty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  <a:cs typeface="楷体_GB2312"/>
              </a:rPr>
            </a:fld>
            <a:endParaRPr lang="en-US" altLang="zh-CN" sz="1600" b="0" dirty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  <a:cs typeface="楷体_GB2312"/>
            </a:endParaRPr>
          </a:p>
        </p:txBody>
      </p:sp>
      <p:sp>
        <p:nvSpPr>
          <p:cNvPr id="2" name="标题 1"/>
          <p:cNvSpPr txBox="1">
            <a:spLocks noChangeArrowheads="1"/>
          </p:cNvSpPr>
          <p:nvPr/>
        </p:nvSpPr>
        <p:spPr bwMode="white">
          <a:xfrm>
            <a:off x="1066800" y="457200"/>
            <a:ext cx="7391400" cy="4873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楷体_GB2312"/>
              </a:rPr>
              <a:t>第一章  概述 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楷体_GB231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50838" y="1371600"/>
            <a:ext cx="8534400" cy="3328988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marR="0" lvl="0" indent="-342900" algn="just" defTabSz="914400" rtl="0" eaLnBrk="0" fontAlgn="auto" latinLnBrk="0" hangingPunct="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zh-CN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计算机系统简介</a:t>
            </a:r>
            <a:r>
              <a:rPr kumimoji="0" lang="zh-CN" altLang="en-US" sz="18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Courier New" panose="02070309020205020404" pitchFamily="49" charset="0"/>
              </a:rPr>
              <a:t>、</a:t>
            </a:r>
            <a:r>
              <a:rPr kumimoji="0" lang="zh-CN" altLang="zh-CN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程序设计语言简介</a:t>
            </a:r>
            <a:r>
              <a:rPr kumimoji="0" lang="zh-CN" altLang="en-US" sz="18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Courier New" panose="02070309020205020404" pitchFamily="49" charset="0"/>
              </a:rPr>
              <a:t>、</a:t>
            </a:r>
            <a:r>
              <a: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Courier New" panose="02070309020205020404" pitchFamily="49" charset="0"/>
              </a:rPr>
              <a:t>C/C++</a:t>
            </a:r>
            <a:r>
              <a:rPr kumimoji="0" lang="zh-CN" altLang="zh-CN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Times New Roman" panose="02020603050405020304" pitchFamily="18" charset="0"/>
              </a:rPr>
              <a:t>发展历史</a:t>
            </a:r>
            <a:r>
              <a:rPr kumimoji="0" lang="zh-CN" altLang="en-US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Times New Roman" panose="02020603050405020304" pitchFamily="18" charset="0"/>
              </a:rPr>
              <a:t>（略）</a:t>
            </a:r>
            <a:endParaRPr kumimoji="0" lang="zh-CN" altLang="zh-CN" sz="1800" b="0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黑体" panose="02010609060101010101" pitchFamily="49" charset="-122"/>
              <a:cs typeface="Courier New" panose="02070309020205020404" pitchFamily="49" charset="0"/>
            </a:endParaRPr>
          </a:p>
          <a:p>
            <a:pPr marL="342900" marR="0" lvl="0" indent="-342900" algn="just" defTabSz="914400" rtl="0" eaLnBrk="0" fontAlgn="auto" latinLnBrk="0" hangingPunct="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Courier New" panose="02070309020205020404" pitchFamily="49" charset="0"/>
              </a:rPr>
              <a:t>C/C++</a:t>
            </a:r>
            <a:r>
              <a:rPr kumimoji="0" lang="zh-CN" altLang="zh-CN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Times New Roman" panose="02020603050405020304" pitchFamily="18" charset="0"/>
              </a:rPr>
              <a:t>程序的开发过程</a:t>
            </a:r>
            <a:endParaRPr kumimoji="0" lang="en-US" altLang="zh-CN" sz="2400" b="0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800100" marR="0" lvl="1" indent="-342900" algn="just" defTabSz="914400" rtl="0" eaLnBrk="0" fontAlgn="auto" latinLnBrk="0" hangingPunct="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Times New Roman" panose="02020603050405020304" pitchFamily="18" charset="0"/>
              </a:rPr>
              <a:t>完整的</a:t>
            </a:r>
            <a:r>
              <a: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Times New Roman" panose="02020603050405020304" pitchFamily="18" charset="0"/>
              </a:rPr>
              <a:t>c/</a:t>
            </a:r>
            <a:r>
              <a:rPr kumimoji="0" lang="en-US" altLang="zh-CN" sz="2400" b="0" i="0" u="none" strike="noStrike" kern="1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Times New Roman" panose="02020603050405020304" pitchFamily="18" charset="0"/>
              </a:rPr>
              <a:t>c++</a:t>
            </a:r>
            <a:r>
              <a:rPr kumimoji="0" lang="zh-CN" altLang="en-US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Times New Roman" panose="02020603050405020304" pitchFamily="18" charset="0"/>
              </a:rPr>
              <a:t>程序</a:t>
            </a:r>
            <a:endParaRPr kumimoji="0" lang="en-US" altLang="zh-CN" sz="2400" b="0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800100" marR="0" lvl="1" indent="-342900" algn="just" defTabSz="914400" rtl="0" eaLnBrk="0" fontAlgn="auto" latinLnBrk="0" hangingPunct="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程序运行过程</a:t>
            </a:r>
            <a:endParaRPr kumimoji="0" lang="en-US" altLang="zh-CN" sz="2400" b="0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800100" marR="0" lvl="1" indent="-342900" algn="just" defTabSz="914400" rtl="0" eaLnBrk="0" fontAlgn="auto" latinLnBrk="0" hangingPunct="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标识符</a:t>
            </a:r>
            <a:endParaRPr kumimoji="0" lang="en-US" altLang="zh-CN" sz="2400" b="0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1257300" marR="0" lvl="2" indent="-342900" algn="just" defTabSz="914400" rtl="0" eaLnBrk="0" fontAlgn="auto" latinLnBrk="0" hangingPunct="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命名规则</a:t>
            </a:r>
            <a:endParaRPr kumimoji="0" lang="en-US" altLang="zh-CN" sz="2400" b="0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676400" y="4700588"/>
            <a:ext cx="1981200" cy="1938338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判断：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楷体_GB2312" pitchFamily="49" charset="-122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1stValue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楷体_GB2312" pitchFamily="49" charset="-122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first-name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楷体_GB2312" pitchFamily="49" charset="-122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@mail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楷体_GB2312" pitchFamily="49" charset="-122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my var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楷体_GB2312" pitchFamily="49" charset="-122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float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楷体_GB2312" pitchFamily="49" charset="-122"/>
              <a:cs typeface="+mn-cs"/>
            </a:endParaRPr>
          </a:p>
        </p:txBody>
      </p:sp>
      <p:pic>
        <p:nvPicPr>
          <p:cNvPr id="19462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2286000"/>
            <a:ext cx="3427413" cy="26193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灯片编号占位符 3"/>
          <p:cNvSpPr txBox="1">
            <a:spLocks noGrp="1"/>
          </p:cNvSpPr>
          <p:nvPr>
            <p:ph type="sldNum" sz="quarter" idx="4"/>
          </p:nvPr>
        </p:nvSpPr>
        <p:spPr>
          <a:xfrm>
            <a:off x="8624888" y="6545263"/>
            <a:ext cx="519112" cy="320675"/>
          </a:xfrm>
        </p:spPr>
        <p:txBody>
          <a:bodyPr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 dirty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  <a:cs typeface="楷体_GB2312"/>
              </a:rPr>
            </a:fld>
            <a:endParaRPr lang="en-US" altLang="zh-CN" sz="1600" b="0" dirty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  <a:cs typeface="楷体_GB2312"/>
            </a:endParaRPr>
          </a:p>
        </p:txBody>
      </p:sp>
      <p:graphicFrame>
        <p:nvGraphicFramePr>
          <p:cNvPr id="20483" name="Object 4"/>
          <p:cNvGraphicFramePr>
            <a:graphicFrameLocks noChangeAspect="1"/>
          </p:cNvGraphicFramePr>
          <p:nvPr/>
        </p:nvGraphicFramePr>
        <p:xfrm>
          <a:off x="3048000" y="755650"/>
          <a:ext cx="5486400" cy="6059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" imgW="18011775" imgH="19869150" progId="Word.Picture.8">
                  <p:embed/>
                </p:oleObj>
              </mc:Choice>
              <mc:Fallback>
                <p:oleObj name="" r:id="rId1" imgW="18011775" imgH="19869150" progId="Word.Picture.8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048000" y="755650"/>
                        <a:ext cx="5486400" cy="60594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/>
          <p:nvPr/>
        </p:nvSpPr>
        <p:spPr>
          <a:xfrm>
            <a:off x="1273175" y="4164013"/>
            <a:ext cx="2628900" cy="1570038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楷体_GB2312"/>
              </a:rPr>
              <a:t>Creating, Compiling, 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楷体_GB231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楷体_GB2312"/>
              </a:rPr>
              <a:t>linking, and Running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ok Antiqua" panose="02040602050305030304" pitchFamily="18" charset="0"/>
              <a:ea typeface="宋体" panose="02010600030101010101" pitchFamily="2" charset="-122"/>
              <a:cs typeface="楷体_GB2312"/>
            </a:endParaRPr>
          </a:p>
        </p:txBody>
      </p:sp>
      <p:sp>
        <p:nvSpPr>
          <p:cNvPr id="2" name="标题 1"/>
          <p:cNvSpPr txBox="1">
            <a:spLocks noChangeArrowheads="1"/>
          </p:cNvSpPr>
          <p:nvPr/>
        </p:nvSpPr>
        <p:spPr bwMode="white">
          <a:xfrm>
            <a:off x="1066800" y="457200"/>
            <a:ext cx="7391400" cy="4873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楷体_GB2312"/>
              </a:rPr>
              <a:t>第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楷体_GB2312"/>
              </a:rPr>
              <a:t>1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楷体_GB2312"/>
              </a:rPr>
              <a:t>章  概述 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楷体_GB2312"/>
            </a:endParaRPr>
          </a:p>
        </p:txBody>
      </p:sp>
      <p:sp>
        <p:nvSpPr>
          <p:cNvPr id="7" name="标题 1"/>
          <p:cNvSpPr txBox="1">
            <a:spLocks noChangeArrowheads="1"/>
          </p:cNvSpPr>
          <p:nvPr/>
        </p:nvSpPr>
        <p:spPr bwMode="white">
          <a:xfrm>
            <a:off x="457200" y="6000750"/>
            <a:ext cx="7391400" cy="4873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j-ea"/>
                <a:cs typeface="楷体_GB2312"/>
              </a:rPr>
              <a:t>Program running process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j-lt"/>
              <a:ea typeface="+mj-ea"/>
              <a:cs typeface="楷体_GB231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720975" y="2438400"/>
            <a:ext cx="3113088" cy="4000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Framework of C++ Program</a:t>
            </a: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灯片编号占位符 3"/>
          <p:cNvSpPr txBox="1">
            <a:spLocks noGrp="1"/>
          </p:cNvSpPr>
          <p:nvPr>
            <p:ph type="sldNum" sz="quarter" idx="4"/>
          </p:nvPr>
        </p:nvSpPr>
        <p:spPr>
          <a:xfrm>
            <a:off x="8624888" y="6545263"/>
            <a:ext cx="519112" cy="320675"/>
          </a:xfrm>
        </p:spPr>
        <p:txBody>
          <a:bodyPr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 dirty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  <a:cs typeface="楷体_GB2312"/>
              </a:rPr>
            </a:fld>
            <a:endParaRPr lang="en-US" altLang="zh-CN" sz="1600" b="0" dirty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  <a:cs typeface="楷体_GB2312"/>
            </a:endParaRPr>
          </a:p>
        </p:txBody>
      </p:sp>
      <p:sp>
        <p:nvSpPr>
          <p:cNvPr id="21507" name="标题 1"/>
          <p:cNvSpPr txBox="1"/>
          <p:nvPr/>
        </p:nvSpPr>
        <p:spPr>
          <a:xfrm>
            <a:off x="1066800" y="457200"/>
            <a:ext cx="7391400" cy="4873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第</a:t>
            </a:r>
            <a:r>
              <a:rPr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章  变量声明与基本运算 </a:t>
            </a:r>
            <a:endParaRPr lang="zh-CN" altLang="en-US" sz="36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50838" y="1143000"/>
            <a:ext cx="8534400" cy="5503863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marR="0" lvl="0" indent="-342900" algn="just" defTabSz="914400" rtl="0" eaLnBrk="0" fontAlgn="auto" latinLnBrk="0" hangingPunct="0">
              <a:lnSpc>
                <a:spcPct val="13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Times New Roman" panose="02020603050405020304" pitchFamily="18" charset="0"/>
              </a:rPr>
              <a:t>变量的定义和初始化</a:t>
            </a:r>
            <a:endParaRPr kumimoji="0" lang="en-US" altLang="zh-CN" sz="2400" b="0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auto" latinLnBrk="0" hangingPunct="0">
              <a:lnSpc>
                <a:spcPct val="13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Times New Roman" panose="02020603050405020304" pitchFamily="18" charset="0"/>
              </a:rPr>
              <a:t>整型、浮点类型、表数范围、类型转换</a:t>
            </a:r>
            <a:endParaRPr kumimoji="0" lang="en-US" altLang="zh-CN" sz="2400" b="0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800100" marR="0" lvl="1" indent="-342900" algn="just" defTabSz="914400" rtl="0" eaLnBrk="0" fontAlgn="auto" latinLnBrk="0" hangingPunct="0">
              <a:lnSpc>
                <a:spcPct val="13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0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Times New Roman" panose="02020603050405020304" pitchFamily="18" charset="0"/>
              </a:rPr>
              <a:t>short, int, long</a:t>
            </a:r>
            <a:endParaRPr kumimoji="0" lang="en-US" altLang="zh-CN" sz="2000" b="0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800100" marR="0" lvl="1" indent="-342900" algn="just" defTabSz="914400" rtl="0" eaLnBrk="0" fontAlgn="auto" latinLnBrk="0" hangingPunct="0">
              <a:lnSpc>
                <a:spcPct val="13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0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Times New Roman" panose="02020603050405020304" pitchFamily="18" charset="0"/>
              </a:rPr>
              <a:t>float, double</a:t>
            </a:r>
            <a:endParaRPr kumimoji="0" lang="en-US" altLang="zh-CN" sz="2000" b="0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auto" latinLnBrk="0" hangingPunct="0">
              <a:lnSpc>
                <a:spcPct val="13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常量（</a:t>
            </a:r>
            <a:r>
              <a: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const/define</a:t>
            </a:r>
            <a:r>
              <a:rPr kumimoji="0" lang="zh-CN" altLang="en-US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endParaRPr kumimoji="0" lang="en-US" altLang="zh-CN" sz="2400" b="0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auto" latinLnBrk="0" hangingPunct="0">
              <a:lnSpc>
                <a:spcPct val="13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Times New Roman" panose="02020603050405020304" pitchFamily="18" charset="0"/>
              </a:rPr>
              <a:t>基本算术运算</a:t>
            </a:r>
            <a:endParaRPr kumimoji="0" lang="en-US" altLang="zh-CN" sz="2400" b="0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800100" marR="0" lvl="1" indent="-342900" algn="just" defTabSz="914400" rtl="0" eaLnBrk="0" fontAlgn="auto" latinLnBrk="0" hangingPunct="0">
              <a:lnSpc>
                <a:spcPct val="13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Times New Roman" panose="02020603050405020304" pitchFamily="18" charset="0"/>
              </a:rPr>
              <a:t>运算符</a:t>
            </a:r>
            <a:endParaRPr kumimoji="0" lang="en-US" altLang="zh-CN" sz="2400" b="0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1257300" marR="0" lvl="2" indent="-342900" algn="just" defTabSz="914400" rtl="0" eaLnBrk="0" fontAlgn="auto" latinLnBrk="0" hangingPunct="0">
              <a:lnSpc>
                <a:spcPct val="13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0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Times New Roman" panose="02020603050405020304" pitchFamily="18" charset="0"/>
              </a:rPr>
              <a:t>简单算术运算符：</a:t>
            </a:r>
            <a:r>
              <a:rPr kumimoji="0" lang="en-US" altLang="zh-CN" sz="20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Times New Roman" panose="02020603050405020304" pitchFamily="18" charset="0"/>
              </a:rPr>
              <a:t>+, -, *, /, and %</a:t>
            </a:r>
            <a:endParaRPr kumimoji="0" lang="en-US" altLang="zh-CN" sz="2000" b="0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1257300" marR="0" lvl="2" indent="-342900" algn="just" defTabSz="914400" rtl="0" eaLnBrk="0" fontAlgn="auto" latinLnBrk="0" hangingPunct="0">
              <a:lnSpc>
                <a:spcPct val="13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0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Times New Roman" panose="02020603050405020304" pitchFamily="18" charset="0"/>
              </a:rPr>
              <a:t>运算</a:t>
            </a:r>
            <a:r>
              <a:rPr kumimoji="0" lang="en-US" altLang="zh-CN" sz="20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0" lang="zh-CN" altLang="en-US" sz="20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Times New Roman" panose="02020603050405020304" pitchFamily="18" charset="0"/>
              </a:rPr>
              <a:t>赋值运算符：</a:t>
            </a:r>
            <a:r>
              <a:rPr kumimoji="0" lang="en-US" altLang="zh-CN" sz="20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Times New Roman" panose="02020603050405020304" pitchFamily="18" charset="0"/>
              </a:rPr>
              <a:t>+=</a:t>
            </a:r>
            <a:r>
              <a:rPr kumimoji="0" lang="zh-CN" altLang="en-US" sz="20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sz="20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Times New Roman" panose="02020603050405020304" pitchFamily="18" charset="0"/>
              </a:rPr>
              <a:t>-=</a:t>
            </a:r>
            <a:r>
              <a:rPr kumimoji="0" lang="zh-CN" altLang="en-US" sz="20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sz="20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Times New Roman" panose="02020603050405020304" pitchFamily="18" charset="0"/>
              </a:rPr>
              <a:t>*=</a:t>
            </a:r>
            <a:r>
              <a:rPr kumimoji="0" lang="zh-CN" altLang="en-US" sz="20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sz="20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Times New Roman" panose="02020603050405020304" pitchFamily="18" charset="0"/>
              </a:rPr>
              <a:t>/=, %=</a:t>
            </a:r>
            <a:endParaRPr kumimoji="0" lang="en-US" altLang="zh-CN" sz="2000" b="0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1257300" marR="0" lvl="2" indent="-342900" algn="just" defTabSz="914400" rtl="0" eaLnBrk="0" fontAlgn="auto" latinLnBrk="0" hangingPunct="0">
              <a:lnSpc>
                <a:spcPct val="13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0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Times New Roman" panose="02020603050405020304" pitchFamily="18" charset="0"/>
              </a:rPr>
              <a:t>自增自减：</a:t>
            </a:r>
            <a:r>
              <a:rPr kumimoji="0" lang="en-US" altLang="zh-CN" sz="20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Times New Roman" panose="02020603050405020304" pitchFamily="18" charset="0"/>
              </a:rPr>
              <a:t>++</a:t>
            </a:r>
            <a:r>
              <a:rPr kumimoji="0" lang="zh-CN" altLang="en-US" sz="20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sz="20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Times New Roman" panose="02020603050405020304" pitchFamily="18" charset="0"/>
              </a:rPr>
              <a:t>--</a:t>
            </a:r>
            <a:endParaRPr kumimoji="0" lang="en-US" altLang="zh-CN" sz="2000" b="0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1257300" marR="0" lvl="2" indent="-342900" algn="just" defTabSz="914400" rtl="0" eaLnBrk="0" fontAlgn="auto" latinLnBrk="0" hangingPunct="0">
              <a:lnSpc>
                <a:spcPct val="13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0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Times New Roman" panose="02020603050405020304" pitchFamily="18" charset="0"/>
              </a:rPr>
              <a:t>关系运算符：</a:t>
            </a:r>
            <a:r>
              <a:rPr kumimoji="0" lang="en-US" altLang="zh-CN" sz="20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Times New Roman" panose="02020603050405020304" pitchFamily="18" charset="0"/>
              </a:rPr>
              <a:t>&gt;,&lt;,&gt;=,&lt;=,==,!=</a:t>
            </a:r>
            <a:endParaRPr kumimoji="0" lang="en-US" altLang="zh-CN" sz="2000" b="0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800100" marR="0" lvl="1" indent="-342900" algn="just" defTabSz="914400" rtl="0" eaLnBrk="0" fontAlgn="auto" latinLnBrk="0" hangingPunct="0">
              <a:lnSpc>
                <a:spcPct val="13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数学函数</a:t>
            </a:r>
            <a:endParaRPr kumimoji="0" lang="en-US" altLang="zh-CN" sz="2400" b="0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灯片编号占位符 4"/>
          <p:cNvSpPr txBox="1">
            <a:spLocks noGrp="1"/>
          </p:cNvSpPr>
          <p:nvPr>
            <p:ph type="sldNum" sz="quarter" idx="4"/>
          </p:nvPr>
        </p:nvSpPr>
        <p:spPr>
          <a:xfrm>
            <a:off x="8624888" y="6545263"/>
            <a:ext cx="519112" cy="320675"/>
          </a:xfrm>
        </p:spPr>
        <p:txBody>
          <a:bodyPr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 dirty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  <a:cs typeface="楷体_GB2312"/>
              </a:rPr>
            </a:fld>
            <a:endParaRPr lang="en-US" altLang="zh-CN" sz="1600" b="0" dirty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  <a:cs typeface="楷体_GB2312"/>
            </a:endParaRPr>
          </a:p>
        </p:txBody>
      </p:sp>
      <p:sp>
        <p:nvSpPr>
          <p:cNvPr id="23555" name="Rectangle 7"/>
          <p:cNvSpPr/>
          <p:nvPr/>
        </p:nvSpPr>
        <p:spPr>
          <a:xfrm>
            <a:off x="0" y="2087563"/>
            <a:ext cx="9144000" cy="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zh-CN" altLang="en-US" sz="16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556" name="Rectangle 9"/>
          <p:cNvSpPr/>
          <p:nvPr/>
        </p:nvSpPr>
        <p:spPr>
          <a:xfrm>
            <a:off x="0" y="1741488"/>
            <a:ext cx="9144000" cy="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zh-CN" altLang="en-US" sz="16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3557" name="Object 8"/>
          <p:cNvGraphicFramePr>
            <a:graphicFrameLocks noChangeAspect="1"/>
          </p:cNvGraphicFramePr>
          <p:nvPr/>
        </p:nvGraphicFramePr>
        <p:xfrm>
          <a:off x="155575" y="1085850"/>
          <a:ext cx="8870950" cy="507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5908675" imgH="3374390" progId="Word.Picture.8">
                  <p:embed/>
                </p:oleObj>
              </mc:Choice>
              <mc:Fallback>
                <p:oleObj name="" r:id="rId1" imgW="5908675" imgH="3374390" progId="Word.Picture.8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5575" y="1085850"/>
                        <a:ext cx="8870950" cy="50704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/>
          <p:cNvSpPr txBox="1">
            <a:spLocks noChangeArrowheads="1"/>
          </p:cNvSpPr>
          <p:nvPr/>
        </p:nvSpPr>
        <p:spPr bwMode="white">
          <a:xfrm>
            <a:off x="990600" y="579438"/>
            <a:ext cx="8153400" cy="4873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Numerical Data Types and Operations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楷体_GB2312"/>
            </a:endParaRPr>
          </a:p>
        </p:txBody>
      </p:sp>
      <p:sp>
        <p:nvSpPr>
          <p:cNvPr id="23559" name="矩形 2"/>
          <p:cNvSpPr/>
          <p:nvPr/>
        </p:nvSpPr>
        <p:spPr>
          <a:xfrm>
            <a:off x="3790950" y="6184900"/>
            <a:ext cx="1603375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overflow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？</a:t>
            </a:r>
            <a:endParaRPr lang="zh-CN" altLang="en-US" sz="2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灯片编号占位符 3"/>
          <p:cNvSpPr txBox="1">
            <a:spLocks noGrp="1"/>
          </p:cNvSpPr>
          <p:nvPr>
            <p:ph type="sldNum" sz="quarter" idx="4"/>
          </p:nvPr>
        </p:nvSpPr>
        <p:spPr>
          <a:xfrm>
            <a:off x="8624888" y="6545263"/>
            <a:ext cx="519112" cy="320675"/>
          </a:xfrm>
        </p:spPr>
        <p:txBody>
          <a:bodyPr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 dirty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  <a:cs typeface="楷体_GB2312"/>
              </a:rPr>
            </a:fld>
            <a:endParaRPr lang="en-US" altLang="zh-CN" sz="1600" b="0" dirty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  <a:cs typeface="楷体_GB2312"/>
            </a:endParaRPr>
          </a:p>
        </p:txBody>
      </p:sp>
      <p:sp>
        <p:nvSpPr>
          <p:cNvPr id="24579" name="标题 1"/>
          <p:cNvSpPr txBox="1"/>
          <p:nvPr/>
        </p:nvSpPr>
        <p:spPr>
          <a:xfrm>
            <a:off x="1066800" y="457200"/>
            <a:ext cx="7391400" cy="4873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第</a:t>
            </a:r>
            <a:r>
              <a:rPr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章  变量声明与基本运算 </a:t>
            </a:r>
            <a:endParaRPr lang="zh-CN" altLang="en-US" sz="36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63538" y="1020763"/>
            <a:ext cx="8534400" cy="5300663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marR="0" lvl="0" indent="-342900" algn="just" defTabSz="914400" rtl="0" eaLnBrk="0" fontAlgn="auto" latinLnBrk="0" hangingPunct="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字符类型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char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800100" marR="0" lvl="1" indent="-342900" algn="just" defTabSz="914400" rtl="0" eaLnBrk="0" fontAlgn="auto" latinLnBrk="0" hangingPunct="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字符表示、输入、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ASCII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码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800100" marR="0" lvl="1" indent="-342900" algn="just" defTabSz="914400" rtl="0" eaLnBrk="0" fontAlgn="auto" latinLnBrk="0" hangingPunct="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特殊字符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342900" marR="0" lvl="0" indent="-342900" algn="just" defTabSz="914400" rtl="0" eaLnBrk="0" fontAlgn="auto" latinLnBrk="0" hangingPunct="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char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与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int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的转换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342900" marR="0" lvl="0" indent="-342900" algn="just" defTabSz="914400" rtl="0" eaLnBrk="0" fontAlgn="auto" latinLnBrk="0" hangingPunct="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bool</a:t>
            </a:r>
            <a:r>
              <a:rPr kumimoji="0" lang="zh-CN" altLang="en-US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类型</a:t>
            </a:r>
            <a:endParaRPr kumimoji="0" lang="en-US" altLang="zh-CN" sz="2400" b="0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800100" marR="0" lvl="1" indent="-342900" algn="just" defTabSz="914400" rtl="0" eaLnBrk="0" fontAlgn="auto" latinLnBrk="0" hangingPunct="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Boolean value : 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true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or  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false</a:t>
            </a:r>
            <a:endParaRPr kumimoji="0" lang="en-US" altLang="zh-CN" sz="2400" b="0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800100" marR="0" lvl="1" indent="-342900" algn="just" defTabSz="914400" rtl="0" eaLnBrk="0" fontAlgn="auto" latinLnBrk="0" hangingPunct="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0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逻辑运算：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&amp;&amp; , || ,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！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342900" marR="0" lvl="0" indent="-342900" algn="just" defTabSz="914400" rtl="0" eaLnBrk="0" fontAlgn="auto" latinLnBrk="0" hangingPunct="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位运算（对整数的二进制形式运算）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800100" marR="0" lvl="1" indent="-342900" algn="just" defTabSz="914400" rtl="0" eaLnBrk="0" fontAlgn="auto" latinLnBrk="0" hangingPunct="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运算符：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&amp;, | ,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^,  ~,  &lt;&lt;,  &gt;&gt;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800100" marR="0" lvl="1" indent="-342900" algn="just" defTabSz="914400" rtl="0" eaLnBrk="0" fontAlgn="auto" latinLnBrk="0" hangingPunct="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优先级高于逻辑运算符，但低于关系运算符和算术运算符。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灯片编号占位符 3"/>
          <p:cNvSpPr txBox="1">
            <a:spLocks noGrp="1"/>
          </p:cNvSpPr>
          <p:nvPr>
            <p:ph type="sldNum" sz="quarter" idx="4"/>
          </p:nvPr>
        </p:nvSpPr>
        <p:spPr>
          <a:xfrm>
            <a:off x="8624888" y="6545263"/>
            <a:ext cx="519112" cy="320675"/>
          </a:xfrm>
        </p:spPr>
        <p:txBody>
          <a:bodyPr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 dirty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  <a:cs typeface="楷体_GB2312"/>
              </a:rPr>
            </a:fld>
            <a:endParaRPr lang="en-US" altLang="zh-CN" sz="1600" b="0" dirty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  <a:cs typeface="楷体_GB2312"/>
            </a:endParaRPr>
          </a:p>
        </p:txBody>
      </p:sp>
      <p:sp>
        <p:nvSpPr>
          <p:cNvPr id="25603" name="标题 1"/>
          <p:cNvSpPr txBox="1"/>
          <p:nvPr/>
        </p:nvSpPr>
        <p:spPr>
          <a:xfrm>
            <a:off x="1066800" y="457200"/>
            <a:ext cx="7391400" cy="4873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第</a:t>
            </a:r>
            <a:r>
              <a:rPr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章  变量声明与基本运算 </a:t>
            </a:r>
            <a:endParaRPr lang="zh-CN" altLang="en-US" sz="36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63538" y="1020763"/>
            <a:ext cx="8534400" cy="560388"/>
          </a:xfrm>
          <a:prstGeom prst="rect">
            <a:avLst/>
          </a:prstGeom>
        </p:spPr>
        <p:txBody>
          <a:bodyPr>
            <a:spAutoFit/>
          </a:bodyPr>
          <a:lstStyle/>
          <a:p>
            <a:pPr marL="800100" marR="0" lvl="1" indent="-342900" algn="just" defTabSz="914400" rtl="0" eaLnBrk="0" fontAlgn="auto" latinLnBrk="0" hangingPunct="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运算符优先级</a:t>
            </a:r>
            <a:endParaRPr kumimoji="0" lang="en-US" altLang="zh-CN" sz="2400" b="0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2560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" y="1581150"/>
            <a:ext cx="6934200" cy="5181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灯片编号占位符 3"/>
          <p:cNvSpPr txBox="1">
            <a:spLocks noGrp="1"/>
          </p:cNvSpPr>
          <p:nvPr>
            <p:ph type="sldNum" sz="quarter" idx="4"/>
          </p:nvPr>
        </p:nvSpPr>
        <p:spPr>
          <a:xfrm>
            <a:off x="8624888" y="6545263"/>
            <a:ext cx="519112" cy="320675"/>
          </a:xfrm>
        </p:spPr>
        <p:txBody>
          <a:bodyPr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 dirty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  <a:cs typeface="楷体_GB2312"/>
              </a:rPr>
            </a:fld>
            <a:endParaRPr lang="en-US" altLang="zh-CN" sz="1600" b="0" dirty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  <a:cs typeface="楷体_GB2312"/>
            </a:endParaRPr>
          </a:p>
        </p:txBody>
      </p:sp>
      <p:sp>
        <p:nvSpPr>
          <p:cNvPr id="26627" name="标题 1"/>
          <p:cNvSpPr txBox="1"/>
          <p:nvPr/>
        </p:nvSpPr>
        <p:spPr>
          <a:xfrm>
            <a:off x="1066800" y="457200"/>
            <a:ext cx="7391400" cy="4873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第</a:t>
            </a:r>
            <a:r>
              <a:rPr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章  分支程序设计</a:t>
            </a:r>
            <a:endParaRPr lang="zh-CN" altLang="en-US" sz="36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62000" y="1371600"/>
            <a:ext cx="6324600" cy="5105400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marR="0" lvl="0" indent="-342900" algn="just" defTabSz="914400" rtl="0" eaLnBrk="0" fontAlgn="auto" latinLnBrk="0" hangingPunct="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程序控制结构简介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800100" marR="0" lvl="1" indent="-342900" algn="just" defTabSz="914400" rtl="0" eaLnBrk="0" fontAlgn="auto" latinLnBrk="0" hangingPunct="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顺序、分支、循环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342900" marR="0" lvl="0" indent="-342900" algn="just" defTabSz="914400" rtl="0" eaLnBrk="0" fontAlgn="auto" latinLnBrk="0" hangingPunct="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分支语句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800100" marR="0" lvl="1" indent="-342900" algn="just" defTabSz="914400" rtl="0" eaLnBrk="0" fontAlgn="auto" latinLnBrk="0" hangingPunct="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0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逻辑运算符和逻辑表达式</a:t>
            </a:r>
            <a:endParaRPr kumimoji="0" lang="en-US" altLang="zh-CN" sz="2000" b="0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800100" marR="0" lvl="1" indent="-342900" algn="just" defTabSz="914400" rtl="0" eaLnBrk="0" fontAlgn="auto" latinLnBrk="0" hangingPunct="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0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Times New Roman" panose="02020603050405020304" pitchFamily="18" charset="0"/>
              </a:rPr>
              <a:t>if</a:t>
            </a:r>
            <a:r>
              <a:rPr kumimoji="0" lang="zh-CN" altLang="en-US" sz="20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Times New Roman" panose="02020603050405020304" pitchFamily="18" charset="0"/>
              </a:rPr>
              <a:t>语句</a:t>
            </a:r>
            <a:endParaRPr kumimoji="0" lang="en-US" altLang="zh-CN" sz="2000" b="0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800100" marR="0" lvl="1" indent="-342900" algn="just" defTabSz="914400" rtl="0" eaLnBrk="0" fontAlgn="auto" latinLnBrk="0" hangingPunct="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0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Times New Roman" panose="02020603050405020304" pitchFamily="18" charset="0"/>
              </a:rPr>
              <a:t>if-else</a:t>
            </a:r>
            <a:endParaRPr kumimoji="0" lang="en-US" altLang="zh-CN" sz="2000" b="0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auto" latinLnBrk="0" hangingPunct="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多分支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结构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800100" marR="0" lvl="1" indent="-342900" algn="just" defTabSz="914400" rtl="0" eaLnBrk="0" fontAlgn="auto" latinLnBrk="0" hangingPunct="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if-else-if-else……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800100" marR="0" lvl="1" indent="-342900" algn="just" defTabSz="914400" rtl="0" eaLnBrk="0" fontAlgn="auto" latinLnBrk="0" hangingPunct="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switch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语句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342900" marR="0" lvl="0" indent="-342900" algn="just" defTabSz="914400" rtl="0" eaLnBrk="0" fontAlgn="auto" latinLnBrk="0" hangingPunct="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跳转语句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break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灯片编号占位符 3"/>
          <p:cNvSpPr txBox="1">
            <a:spLocks noGrp="1"/>
          </p:cNvSpPr>
          <p:nvPr>
            <p:ph type="sldNum" sz="quarter" idx="4"/>
          </p:nvPr>
        </p:nvSpPr>
        <p:spPr>
          <a:xfrm>
            <a:off x="8624888" y="6545263"/>
            <a:ext cx="519112" cy="320675"/>
          </a:xfrm>
        </p:spPr>
        <p:txBody>
          <a:bodyPr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 dirty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  <a:cs typeface="楷体_GB2312"/>
              </a:rPr>
            </a:fld>
            <a:endParaRPr lang="en-US" altLang="zh-CN" sz="1600" b="0" dirty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  <a:cs typeface="楷体_GB2312"/>
            </a:endParaRPr>
          </a:p>
        </p:txBody>
      </p:sp>
      <p:sp>
        <p:nvSpPr>
          <p:cNvPr id="27651" name="标题 1"/>
          <p:cNvSpPr txBox="1"/>
          <p:nvPr/>
        </p:nvSpPr>
        <p:spPr>
          <a:xfrm>
            <a:off x="1066800" y="457200"/>
            <a:ext cx="7391400" cy="4873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第</a:t>
            </a:r>
            <a:r>
              <a:rPr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章  分支程序设计</a:t>
            </a:r>
            <a:endParaRPr lang="zh-CN" altLang="en-US" sz="36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295400"/>
            <a:ext cx="8001000" cy="20574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Toots Regular" panose="02010600010101010101" charset="-12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if (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booleanExpression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) { 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Toots Regular" panose="02010600010101010101" charset="-122"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    statement(s)-for-the-true-case;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Toots Regular" panose="02010600010101010101" charset="-12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}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Toots Regular" panose="02010600010101010101" charset="-12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else {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Toots Regular" panose="02010600010101010101" charset="-12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   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statement(s)-for-the-false-case;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Toots Regular" panose="02010600010101010101" charset="-12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} 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</p:txBody>
      </p:sp>
      <p:graphicFrame>
        <p:nvGraphicFramePr>
          <p:cNvPr id="27653" name="Object 5"/>
          <p:cNvGraphicFramePr>
            <a:graphicFrameLocks noChangeAspect="1"/>
          </p:cNvGraphicFramePr>
          <p:nvPr/>
        </p:nvGraphicFramePr>
        <p:xfrm>
          <a:off x="914400" y="3200400"/>
          <a:ext cx="7470775" cy="309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21688425" imgH="9001125" progId="Word.Picture.8">
                  <p:embed/>
                </p:oleObj>
              </mc:Choice>
              <mc:Fallback>
                <p:oleObj name="" r:id="rId1" imgW="21688425" imgH="9001125" progId="Word.Picture.8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14400" y="3200400"/>
                        <a:ext cx="7470775" cy="30988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灯片编号占位符 3"/>
          <p:cNvSpPr txBox="1">
            <a:spLocks noGrp="1"/>
          </p:cNvSpPr>
          <p:nvPr>
            <p:ph type="sldNum" sz="quarter" idx="4"/>
          </p:nvPr>
        </p:nvSpPr>
        <p:spPr>
          <a:xfrm>
            <a:off x="8624888" y="6545263"/>
            <a:ext cx="519112" cy="320675"/>
          </a:xfrm>
        </p:spPr>
        <p:txBody>
          <a:bodyPr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 dirty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  <a:cs typeface="楷体_GB2312"/>
              </a:rPr>
            </a:fld>
            <a:endParaRPr lang="en-US" altLang="zh-CN" sz="1600" b="0" dirty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  <a:cs typeface="楷体_GB2312"/>
            </a:endParaRPr>
          </a:p>
        </p:txBody>
      </p:sp>
      <p:sp>
        <p:nvSpPr>
          <p:cNvPr id="28675" name="标题 1"/>
          <p:cNvSpPr txBox="1"/>
          <p:nvPr/>
        </p:nvSpPr>
        <p:spPr>
          <a:xfrm>
            <a:off x="1066800" y="457200"/>
            <a:ext cx="7391400" cy="4873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第</a:t>
            </a:r>
            <a:r>
              <a:rPr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章  分支程序设计</a:t>
            </a:r>
            <a:endParaRPr lang="zh-CN" altLang="en-US" sz="36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124200" y="6018213"/>
            <a:ext cx="241300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switch Statements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8677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1447800"/>
            <a:ext cx="6141720" cy="417957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灯片编号占位符 3"/>
          <p:cNvSpPr txBox="1">
            <a:spLocks noGrp="1"/>
          </p:cNvSpPr>
          <p:nvPr>
            <p:ph type="sldNum" sz="quarter" idx="4"/>
          </p:nvPr>
        </p:nvSpPr>
        <p:spPr>
          <a:xfrm>
            <a:off x="8624888" y="6545263"/>
            <a:ext cx="519112" cy="320675"/>
          </a:xfrm>
        </p:spPr>
        <p:txBody>
          <a:bodyPr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 dirty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  <a:cs typeface="楷体_GB2312"/>
              </a:rPr>
            </a:fld>
            <a:endParaRPr lang="en-US" altLang="zh-CN" sz="1600" b="0" dirty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  <a:cs typeface="楷体_GB2312"/>
            </a:endParaRPr>
          </a:p>
        </p:txBody>
      </p:sp>
      <p:sp>
        <p:nvSpPr>
          <p:cNvPr id="30723" name="标题 1"/>
          <p:cNvSpPr txBox="1"/>
          <p:nvPr/>
        </p:nvSpPr>
        <p:spPr>
          <a:xfrm>
            <a:off x="1066800" y="457200"/>
            <a:ext cx="7391400" cy="4873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第</a:t>
            </a:r>
            <a:r>
              <a:rPr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4</a:t>
            </a: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章  循环</a:t>
            </a:r>
            <a:endParaRPr lang="zh-CN" altLang="en-US" sz="36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24" name="矩形 2"/>
          <p:cNvSpPr/>
          <p:nvPr/>
        </p:nvSpPr>
        <p:spPr>
          <a:xfrm>
            <a:off x="762000" y="1371600"/>
            <a:ext cx="6324600" cy="43767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342900" lvl="0" indent="-342900" algn="just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循环结构</a:t>
            </a:r>
            <a:endParaRPr lang="en-US" altLang="zh-CN" sz="2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do-while</a:t>
            </a: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while</a:t>
            </a: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for</a:t>
            </a: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跳转语句</a:t>
            </a:r>
            <a:endParaRPr lang="en-US" altLang="zh-CN" sz="2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break</a:t>
            </a: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continue</a:t>
            </a: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US" altLang="zh-CN" sz="2000" b="0" dirty="0">
                <a:solidFill>
                  <a:srgbClr val="FF0000"/>
                </a:solidFill>
                <a:latin typeface="Times New Roman" panose="02020603050405020304" pitchFamily="18" charset="0"/>
              </a:rPr>
              <a:t>goto</a:t>
            </a:r>
            <a:endParaRPr lang="en-US" altLang="zh-CN" sz="2000" b="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return</a:t>
            </a: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352800" y="4337050"/>
            <a:ext cx="5440363" cy="1323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1B6AC7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for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 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(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初始化语句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;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条件判断语句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;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控制条件语句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)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 {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            循环体语句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;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}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楷体_GB2312" pitchFamily="49" charset="-122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284538" y="2925763"/>
            <a:ext cx="4572000" cy="132397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1B6AC7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while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B6AC7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 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(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条件判断语句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) 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{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          循环体语句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;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}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楷体_GB2312" pitchFamily="49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246438" y="1536700"/>
            <a:ext cx="4572000" cy="101600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1B6AC7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do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B6AC7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 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{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         循环体语句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;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} while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 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(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条件判断语句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);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楷体_GB2312" pitchFamily="49" charset="-122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477000" y="5227638"/>
            <a:ext cx="2133600" cy="14779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label: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j-lt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       循环体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;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j-lt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if (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条件判断语句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) {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j-lt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     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goto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 label;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j-lt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}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j-lt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灯片编号占位符 3"/>
          <p:cNvSpPr txBox="1">
            <a:spLocks noGrp="1"/>
          </p:cNvSpPr>
          <p:nvPr>
            <p:ph type="sldNum" sz="quarter" idx="4"/>
          </p:nvPr>
        </p:nvSpPr>
        <p:spPr>
          <a:xfrm>
            <a:off x="8624888" y="6545263"/>
            <a:ext cx="519112" cy="320675"/>
          </a:xfrm>
        </p:spPr>
        <p:txBody>
          <a:bodyPr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 dirty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  <a:cs typeface="楷体_GB2312"/>
              </a:rPr>
            </a:fld>
            <a:endParaRPr lang="en-US" altLang="zh-CN" sz="1600" b="0" dirty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  <a:cs typeface="楷体_GB2312"/>
            </a:endParaRPr>
          </a:p>
        </p:txBody>
      </p:sp>
      <p:sp>
        <p:nvSpPr>
          <p:cNvPr id="31747" name="标题 1"/>
          <p:cNvSpPr txBox="1"/>
          <p:nvPr/>
        </p:nvSpPr>
        <p:spPr>
          <a:xfrm>
            <a:off x="1066800" y="457200"/>
            <a:ext cx="7391400" cy="4873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第</a:t>
            </a:r>
            <a:r>
              <a:rPr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4</a:t>
            </a: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章  循环</a:t>
            </a:r>
            <a:endParaRPr lang="zh-CN" altLang="en-US" sz="36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31748" name="Object 18"/>
          <p:cNvGraphicFramePr>
            <a:graphicFrameLocks noChangeAspect="1"/>
          </p:cNvGraphicFramePr>
          <p:nvPr/>
        </p:nvGraphicFramePr>
        <p:xfrm>
          <a:off x="152400" y="1835150"/>
          <a:ext cx="2982913" cy="332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8134350" imgH="9067800" progId="Word.Picture.8">
                  <p:embed/>
                </p:oleObj>
              </mc:Choice>
              <mc:Fallback>
                <p:oleObj name="" r:id="rId1" imgW="8134350" imgH="9067800" progId="Word.Picture.8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2400" y="1835150"/>
                        <a:ext cx="2982913" cy="33274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49" name="文本框 10"/>
          <p:cNvSpPr txBox="1"/>
          <p:nvPr/>
        </p:nvSpPr>
        <p:spPr>
          <a:xfrm>
            <a:off x="1096963" y="5486400"/>
            <a:ext cx="186690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do-while</a:t>
            </a:r>
            <a:endParaRPr lang="zh-CN" altLang="en-US" sz="2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31750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0" y="1835150"/>
            <a:ext cx="2393950" cy="32305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1751" name="文本框 12"/>
          <p:cNvSpPr txBox="1"/>
          <p:nvPr/>
        </p:nvSpPr>
        <p:spPr>
          <a:xfrm>
            <a:off x="7318375" y="5465763"/>
            <a:ext cx="121920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for</a:t>
            </a:r>
            <a:endParaRPr lang="zh-CN" altLang="en-US" sz="2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752" name="文本框 14"/>
          <p:cNvSpPr txBox="1"/>
          <p:nvPr/>
        </p:nvSpPr>
        <p:spPr>
          <a:xfrm>
            <a:off x="4037013" y="5486400"/>
            <a:ext cx="121920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while</a:t>
            </a:r>
            <a:endParaRPr lang="zh-CN" altLang="en-US" sz="2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31753" name="图片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8813" y="1900238"/>
            <a:ext cx="2897187" cy="30527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灯片编号占位符 3"/>
          <p:cNvSpPr txBox="1">
            <a:spLocks noGrp="1"/>
          </p:cNvSpPr>
          <p:nvPr>
            <p:ph type="sldNum" sz="quarter" idx="4"/>
          </p:nvPr>
        </p:nvSpPr>
        <p:spPr>
          <a:xfrm>
            <a:off x="8624888" y="6545263"/>
            <a:ext cx="519112" cy="320675"/>
          </a:xfrm>
        </p:spPr>
        <p:txBody>
          <a:bodyPr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 dirty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  <a:cs typeface="楷体_GB2312"/>
              </a:rPr>
            </a:fld>
            <a:endParaRPr lang="en-US" altLang="zh-CN" sz="1600" b="0" dirty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  <a:cs typeface="楷体_GB2312"/>
            </a:endParaRPr>
          </a:p>
        </p:txBody>
      </p:sp>
      <p:sp>
        <p:nvSpPr>
          <p:cNvPr id="32771" name="标题 1"/>
          <p:cNvSpPr txBox="1"/>
          <p:nvPr/>
        </p:nvSpPr>
        <p:spPr>
          <a:xfrm>
            <a:off x="1066800" y="457200"/>
            <a:ext cx="7391400" cy="4873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第</a:t>
            </a:r>
            <a:r>
              <a:rPr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5</a:t>
            </a: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章  一维数组</a:t>
            </a:r>
            <a:endParaRPr lang="zh-CN" altLang="en-US" sz="36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772" name="矩形 2"/>
          <p:cNvSpPr/>
          <p:nvPr/>
        </p:nvSpPr>
        <p:spPr>
          <a:xfrm>
            <a:off x="838200" y="1214438"/>
            <a:ext cx="6324600" cy="544639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342900" lvl="0" indent="-342900" algn="just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数组定义</a:t>
            </a:r>
            <a:endParaRPr lang="en-US" altLang="zh-CN" sz="2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data</a:t>
            </a:r>
            <a:r>
              <a:rPr lang="en-US" altLang="zh-CN" sz="2000" b="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type</a:t>
            </a: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arrayRef</a:t>
            </a:r>
            <a:r>
              <a:rPr lang="en-US" altLang="zh-CN" sz="2000" b="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Var</a:t>
            </a: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[array</a:t>
            </a:r>
            <a:r>
              <a:rPr lang="en-US" altLang="zh-CN" sz="2000" b="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Size</a:t>
            </a: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];</a:t>
            </a: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800100" lvl="1" indent="-342900" algn="just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如：</a:t>
            </a: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double myList[10];</a:t>
            </a:r>
            <a:endParaRPr lang="en-US" altLang="zh-CN" sz="24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just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数组初始化、赋值</a:t>
            </a:r>
            <a:endParaRPr lang="en-US" altLang="zh-CN" sz="24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800100" lvl="1" indent="-342900" algn="just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double myList[4] = {1.9, </a:t>
            </a: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2.9, 3.4, 3.5</a:t>
            </a: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};</a:t>
            </a: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800100" lvl="1" indent="-342900" algn="just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元素单独赋值</a:t>
            </a: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just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数组访问</a:t>
            </a:r>
            <a:endParaRPr lang="en-US" altLang="zh-CN" sz="24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800100" lvl="1" indent="-342900" algn="just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元素访问</a:t>
            </a: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800100" lvl="1" indent="-342900" algn="just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输入</a:t>
            </a: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800100" lvl="1" indent="-342900" algn="just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输出</a:t>
            </a: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800100" lvl="1" indent="-342900" algn="just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处理</a:t>
            </a: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灯片编号占位符 3"/>
          <p:cNvSpPr txBox="1">
            <a:spLocks noGrp="1"/>
          </p:cNvSpPr>
          <p:nvPr>
            <p:ph type="sldNum" sz="quarter" idx="4"/>
          </p:nvPr>
        </p:nvSpPr>
        <p:spPr>
          <a:xfrm>
            <a:off x="8624888" y="6545263"/>
            <a:ext cx="519112" cy="320675"/>
          </a:xfrm>
        </p:spPr>
        <p:txBody>
          <a:bodyPr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 dirty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  <a:cs typeface="楷体_GB2312"/>
              </a:rPr>
            </a:fld>
            <a:endParaRPr lang="en-US" altLang="zh-CN" sz="1600" b="0" dirty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  <a:cs typeface="楷体_GB2312"/>
            </a:endParaRPr>
          </a:p>
        </p:txBody>
      </p:sp>
      <p:sp>
        <p:nvSpPr>
          <p:cNvPr id="33795" name="标题 1"/>
          <p:cNvSpPr txBox="1"/>
          <p:nvPr/>
        </p:nvSpPr>
        <p:spPr>
          <a:xfrm>
            <a:off x="1066800" y="457200"/>
            <a:ext cx="7391400" cy="4873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第</a:t>
            </a:r>
            <a:r>
              <a:rPr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6</a:t>
            </a: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章  多维数组</a:t>
            </a:r>
            <a:endParaRPr lang="zh-CN" altLang="en-US" sz="36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796" name="矩形 2"/>
          <p:cNvSpPr/>
          <p:nvPr/>
        </p:nvSpPr>
        <p:spPr>
          <a:xfrm>
            <a:off x="762000" y="1371600"/>
            <a:ext cx="7543800" cy="52387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342900" lvl="0" indent="-342900" algn="just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数组定义（以</a:t>
            </a: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2D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数组为例）</a:t>
            </a:r>
            <a:endParaRPr lang="en-US" altLang="zh-CN" sz="2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800100" lvl="1" indent="-342900"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elementType arrayName[rowSize][columnSize];</a:t>
            </a: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800100" lvl="1" indent="-342900"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如：</a:t>
            </a: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int matrix[5][5];</a:t>
            </a: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数组初始化、赋值</a:t>
            </a:r>
            <a:endParaRPr lang="en-US" altLang="zh-CN" sz="2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int matrix[3][3] = { {1,9, 2}, { 9, 3,4}, { 3,5,6} };</a:t>
            </a: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……</a:t>
            </a:r>
            <a:endParaRPr lang="en-US" altLang="zh-CN" sz="2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数组访问</a:t>
            </a:r>
            <a:endParaRPr lang="en-US" altLang="zh-CN" sz="2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某个元素的访问：通过地址</a:t>
            </a: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输入</a:t>
            </a: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输出</a:t>
            </a: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处理</a:t>
            </a: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灯片编号占位符 3"/>
          <p:cNvSpPr txBox="1">
            <a:spLocks noGrp="1"/>
          </p:cNvSpPr>
          <p:nvPr>
            <p:ph type="sldNum" sz="quarter" idx="4"/>
          </p:nvPr>
        </p:nvSpPr>
        <p:spPr>
          <a:xfrm>
            <a:off x="8624888" y="6545263"/>
            <a:ext cx="519112" cy="320675"/>
          </a:xfrm>
        </p:spPr>
        <p:txBody>
          <a:bodyPr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 dirty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  <a:cs typeface="楷体_GB2312"/>
              </a:rPr>
            </a:fld>
            <a:endParaRPr lang="en-US" altLang="zh-CN" sz="1600" b="0" dirty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  <a:cs typeface="楷体_GB2312"/>
            </a:endParaRPr>
          </a:p>
        </p:txBody>
      </p:sp>
      <p:sp>
        <p:nvSpPr>
          <p:cNvPr id="34819" name="标题 1"/>
          <p:cNvSpPr txBox="1"/>
          <p:nvPr/>
        </p:nvSpPr>
        <p:spPr>
          <a:xfrm>
            <a:off x="1066800" y="457200"/>
            <a:ext cx="7391400" cy="4873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第</a:t>
            </a:r>
            <a:r>
              <a:rPr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7</a:t>
            </a: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章  </a:t>
            </a:r>
            <a:r>
              <a:rPr lang="zh-CN" altLang="zh-CN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字符、字符串</a:t>
            </a:r>
            <a:endParaRPr lang="zh-CN" altLang="en-US" sz="36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820" name="矩形 2"/>
          <p:cNvSpPr/>
          <p:nvPr/>
        </p:nvSpPr>
        <p:spPr>
          <a:xfrm>
            <a:off x="762000" y="1371600"/>
            <a:ext cx="8305800" cy="53927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342900" lvl="0" indent="-342900" algn="just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C-string: C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风格字符串的定义</a:t>
            </a:r>
            <a:endParaRPr lang="en-US" altLang="zh-CN" sz="2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1257300" lvl="2" indent="-342900" eaLnBrk="1" hangingPunct="1">
              <a:lnSpc>
                <a:spcPct val="125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ü"/>
            </a:pPr>
            <a:r>
              <a:rPr lang="en-US" altLang="zh-CN" b="0" dirty="0">
                <a:solidFill>
                  <a:srgbClr val="CC0099"/>
                </a:solidFill>
                <a:latin typeface="Times New Roman" panose="02020603050405020304" pitchFamily="18" charset="0"/>
              </a:rPr>
              <a:t>char city[7] =  "Dallas";</a:t>
            </a:r>
            <a:endParaRPr lang="en-US" altLang="zh-CN" b="0" dirty="0">
              <a:solidFill>
                <a:srgbClr val="CC0099"/>
              </a:solidFill>
              <a:latin typeface="Times New Roman" panose="02020603050405020304" pitchFamily="18" charset="0"/>
            </a:endParaRPr>
          </a:p>
          <a:p>
            <a:pPr marL="1257300" lvl="2" indent="-342900" eaLnBrk="1" hangingPunct="1">
              <a:lnSpc>
                <a:spcPct val="125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ü"/>
            </a:pPr>
            <a:r>
              <a:rPr lang="en-US" altLang="zh-CN" b="0" dirty="0">
                <a:solidFill>
                  <a:srgbClr val="CC0099"/>
                </a:solidFill>
                <a:latin typeface="Times New Roman" panose="02020603050405020304" pitchFamily="18" charset="0"/>
              </a:rPr>
              <a:t>char city[ ] =  {'D', 'a', 'l', 'l', 'a', 's', '\0' };</a:t>
            </a:r>
            <a:endParaRPr lang="en-US" altLang="zh-CN" b="0" i="1" dirty="0">
              <a:solidFill>
                <a:srgbClr val="CC0099"/>
              </a:solidFill>
              <a:latin typeface="Times New Roman" panose="02020603050405020304" pitchFamily="18" charset="0"/>
            </a:endParaRPr>
          </a:p>
          <a:p>
            <a:pPr marL="1257300" lvl="2" indent="-342900" eaLnBrk="1" hangingPunct="1">
              <a:lnSpc>
                <a:spcPct val="125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ü"/>
            </a:pPr>
            <a:r>
              <a:rPr lang="en-US" altLang="zh-CN" b="0" dirty="0">
                <a:solidFill>
                  <a:srgbClr val="CC0099"/>
                </a:solidFill>
                <a:latin typeface="Times New Roman" panose="02020603050405020304" pitchFamily="18" charset="0"/>
              </a:rPr>
              <a:t>char city[ ] =  "Dallas";</a:t>
            </a:r>
            <a:endParaRPr lang="en-US" altLang="zh-CN" b="0" dirty="0">
              <a:solidFill>
                <a:srgbClr val="CC0099"/>
              </a:solidFill>
              <a:latin typeface="Times New Roman" panose="02020603050405020304" pitchFamily="18" charset="0"/>
            </a:endParaRPr>
          </a:p>
          <a:p>
            <a:pPr marL="1257300" lvl="2" indent="-342900" eaLnBrk="1" hangingPunct="1">
              <a:lnSpc>
                <a:spcPct val="125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ü"/>
            </a:pPr>
            <a:r>
              <a:rPr lang="zh-CN" altLang="en-US" b="0" dirty="0">
                <a:solidFill>
                  <a:srgbClr val="CC0099"/>
                </a:solidFill>
                <a:latin typeface="Times New Roman" panose="02020603050405020304" pitchFamily="18" charset="0"/>
              </a:rPr>
              <a:t>字符数组形式</a:t>
            </a:r>
            <a:endParaRPr lang="en-US" altLang="zh-CN" b="0" dirty="0">
              <a:solidFill>
                <a:srgbClr val="CC0099"/>
              </a:solidFill>
              <a:latin typeface="Times New Roman" panose="02020603050405020304" pitchFamily="18" charset="0"/>
            </a:endParaRPr>
          </a:p>
          <a:p>
            <a:pPr marL="1257300" lvl="2" indent="-342900" eaLnBrk="1" hangingPunct="1">
              <a:lnSpc>
                <a:spcPct val="125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ü"/>
            </a:pPr>
            <a:r>
              <a:rPr lang="zh-CN" altLang="en-US" b="0" dirty="0">
                <a:solidFill>
                  <a:srgbClr val="CC0099"/>
                </a:solidFill>
                <a:latin typeface="Times New Roman" panose="02020603050405020304" pitchFamily="18" charset="0"/>
              </a:rPr>
              <a:t>以</a:t>
            </a:r>
            <a:r>
              <a:rPr lang="en-US" altLang="zh-CN" b="0" dirty="0">
                <a:solidFill>
                  <a:srgbClr val="CC0099"/>
                </a:solidFill>
                <a:latin typeface="Times New Roman" panose="02020603050405020304" pitchFamily="18" charset="0"/>
              </a:rPr>
              <a:t>'\0‘</a:t>
            </a:r>
            <a:r>
              <a:rPr lang="zh-CN" altLang="en-US" b="0" dirty="0">
                <a:solidFill>
                  <a:srgbClr val="CC0099"/>
                </a:solidFill>
                <a:latin typeface="Times New Roman" panose="02020603050405020304" pitchFamily="18" charset="0"/>
              </a:rPr>
              <a:t>结尾</a:t>
            </a:r>
            <a:endParaRPr lang="en-US" altLang="zh-CN" b="0" dirty="0">
              <a:solidFill>
                <a:srgbClr val="CC0099"/>
              </a:solidFill>
              <a:latin typeface="Times New Roman" panose="02020603050405020304" pitchFamily="18" charset="0"/>
            </a:endParaRPr>
          </a:p>
          <a:p>
            <a:pPr marL="1257300" lvl="2" indent="-342900" eaLnBrk="1" hangingPunct="1">
              <a:lnSpc>
                <a:spcPct val="125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ü"/>
            </a:pPr>
            <a:r>
              <a: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</a:rPr>
              <a:t>输入输出：</a:t>
            </a: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</a:rPr>
              <a:t>cin</a:t>
            </a:r>
            <a:r>
              <a: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</a:rPr>
              <a:t>cout</a:t>
            </a:r>
            <a:endParaRPr lang="en-US" altLang="zh-CN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C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语言中的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字符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操作函数</a:t>
            </a: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isupper(char c), islower(c),</a:t>
            </a: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isspace(c), toupper(c), tolower(c),</a:t>
            </a: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……</a:t>
            </a: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C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语言中的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字符串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操作函数</a:t>
            </a: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strlen(char</a:t>
            </a: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*s), atoi(s), *strcpy( ),</a:t>
            </a: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*strcat( )……</a:t>
            </a: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灯片编号占位符 3"/>
          <p:cNvSpPr txBox="1">
            <a:spLocks noGrp="1"/>
          </p:cNvSpPr>
          <p:nvPr>
            <p:ph type="sldNum" sz="quarter" idx="4"/>
          </p:nvPr>
        </p:nvSpPr>
        <p:spPr>
          <a:xfrm>
            <a:off x="8624888" y="6545263"/>
            <a:ext cx="519112" cy="320675"/>
          </a:xfrm>
        </p:spPr>
        <p:txBody>
          <a:bodyPr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 dirty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  <a:cs typeface="楷体_GB2312"/>
              </a:rPr>
            </a:fld>
            <a:endParaRPr lang="en-US" altLang="zh-CN" sz="1600" b="0" dirty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  <a:cs typeface="楷体_GB2312"/>
            </a:endParaRPr>
          </a:p>
        </p:txBody>
      </p:sp>
      <p:sp>
        <p:nvSpPr>
          <p:cNvPr id="36867" name="标题 1"/>
          <p:cNvSpPr txBox="1"/>
          <p:nvPr/>
        </p:nvSpPr>
        <p:spPr>
          <a:xfrm>
            <a:off x="1066800" y="457200"/>
            <a:ext cx="7391400" cy="4873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第</a:t>
            </a:r>
            <a:r>
              <a:rPr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7</a:t>
            </a: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章  </a:t>
            </a:r>
            <a:r>
              <a:rPr lang="zh-CN" altLang="zh-CN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字符、字符串</a:t>
            </a:r>
            <a:endParaRPr lang="zh-CN" altLang="en-US" sz="36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36868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262063"/>
            <a:ext cx="6343650" cy="52784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灯片编号占位符 3"/>
          <p:cNvSpPr txBox="1">
            <a:spLocks noGrp="1"/>
          </p:cNvSpPr>
          <p:nvPr>
            <p:ph type="sldNum" sz="quarter" idx="4"/>
          </p:nvPr>
        </p:nvSpPr>
        <p:spPr>
          <a:xfrm>
            <a:off x="8624888" y="6545263"/>
            <a:ext cx="519112" cy="320675"/>
          </a:xfrm>
        </p:spPr>
        <p:txBody>
          <a:bodyPr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 dirty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  <a:cs typeface="楷体_GB2312"/>
              </a:rPr>
            </a:fld>
            <a:endParaRPr lang="en-US" altLang="zh-CN" sz="1600" b="0" dirty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  <a:cs typeface="楷体_GB2312"/>
            </a:endParaRPr>
          </a:p>
        </p:txBody>
      </p:sp>
      <p:sp>
        <p:nvSpPr>
          <p:cNvPr id="37891" name="标题 1"/>
          <p:cNvSpPr txBox="1"/>
          <p:nvPr/>
        </p:nvSpPr>
        <p:spPr>
          <a:xfrm>
            <a:off x="1066800" y="457200"/>
            <a:ext cx="7391400" cy="4873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第</a:t>
            </a:r>
            <a:r>
              <a:rPr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7</a:t>
            </a: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章  </a:t>
            </a:r>
            <a:r>
              <a:rPr lang="zh-CN" altLang="zh-CN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字符、字符串</a:t>
            </a:r>
            <a:endParaRPr lang="zh-CN" altLang="en-US" sz="36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37892" name="Object 5"/>
          <p:cNvGraphicFramePr>
            <a:graphicFrameLocks noChangeAspect="1"/>
          </p:cNvGraphicFramePr>
          <p:nvPr/>
        </p:nvGraphicFramePr>
        <p:xfrm>
          <a:off x="3352800" y="1123950"/>
          <a:ext cx="5260975" cy="573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5287010" imgH="5745480" progId="Word.Picture.8">
                  <p:embed/>
                </p:oleObj>
              </mc:Choice>
              <mc:Fallback>
                <p:oleObj name="" r:id="rId1" imgW="5287010" imgH="5745480" progId="Word.Picture.8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352800" y="1123950"/>
                        <a:ext cx="5260975" cy="57340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3" name="矩形 2"/>
          <p:cNvSpPr/>
          <p:nvPr/>
        </p:nvSpPr>
        <p:spPr>
          <a:xfrm>
            <a:off x="76200" y="2362200"/>
            <a:ext cx="3413125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400" b="0" dirty="0">
                <a:solidFill>
                  <a:srgbClr val="1B6AC7"/>
                </a:solidFill>
                <a:latin typeface="Consolas" panose="020B0609020204030204" pitchFamily="49" charset="0"/>
              </a:rPr>
              <a:t>#include</a:t>
            </a:r>
            <a:r>
              <a:rPr lang="en-US" altLang="zh-CN" sz="2400" b="0" dirty="0">
                <a:solidFill>
                  <a:srgbClr val="000000"/>
                </a:solidFill>
                <a:latin typeface="Consolas" panose="020B0609020204030204" pitchFamily="49" charset="0"/>
              </a:rPr>
              <a:t> &lt;string.h&gt;</a:t>
            </a:r>
            <a:endParaRPr lang="zh-CN" altLang="en-US" sz="2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4" name="灯片编号占位符 3"/>
          <p:cNvSpPr txBox="1">
            <a:spLocks noGrp="1"/>
          </p:cNvSpPr>
          <p:nvPr>
            <p:ph type="sldNum" sz="quarter" idx="4"/>
          </p:nvPr>
        </p:nvSpPr>
        <p:spPr>
          <a:xfrm>
            <a:off x="8624888" y="6545263"/>
            <a:ext cx="519112" cy="320675"/>
          </a:xfrm>
        </p:spPr>
        <p:txBody>
          <a:bodyPr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 dirty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  <a:cs typeface="楷体_GB2312"/>
              </a:rPr>
            </a:fld>
            <a:endParaRPr lang="en-US" altLang="zh-CN" sz="1600" b="0" dirty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  <a:cs typeface="楷体_GB2312"/>
            </a:endParaRPr>
          </a:p>
        </p:txBody>
      </p:sp>
      <p:sp>
        <p:nvSpPr>
          <p:cNvPr id="38915" name="标题 1"/>
          <p:cNvSpPr txBox="1"/>
          <p:nvPr/>
        </p:nvSpPr>
        <p:spPr>
          <a:xfrm>
            <a:off x="1066800" y="457200"/>
            <a:ext cx="7391400" cy="4873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第</a:t>
            </a:r>
            <a:r>
              <a:rPr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7</a:t>
            </a: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章  </a:t>
            </a:r>
            <a:r>
              <a:rPr lang="zh-CN" altLang="zh-CN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字符、字符串</a:t>
            </a:r>
            <a:endParaRPr lang="zh-CN" altLang="en-US" sz="36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16" name="矩形 2"/>
          <p:cNvSpPr/>
          <p:nvPr/>
        </p:nvSpPr>
        <p:spPr>
          <a:xfrm>
            <a:off x="762000" y="1371600"/>
            <a:ext cx="6324600" cy="47466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342900" lvl="0" indent="-342900" algn="just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C++ string Class</a:t>
            </a: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头文件：</a:t>
            </a:r>
            <a:r>
              <a:rPr lang="en-US" altLang="zh-CN" sz="2000" b="0" dirty="0">
                <a:solidFill>
                  <a:srgbClr val="FF0000"/>
                </a:solidFill>
                <a:latin typeface="Times New Roman" panose="02020603050405020304" pitchFamily="18" charset="0"/>
              </a:rPr>
              <a:t>#include &lt;string&gt;</a:t>
            </a:r>
            <a:endParaRPr lang="en-US" altLang="zh-CN" sz="2000" b="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定义：</a:t>
            </a: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string firstName = "George";</a:t>
            </a: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输入输出</a:t>
            </a: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1257300" lvl="2" indent="-342900" algn="just">
              <a:lnSpc>
                <a:spcPct val="150000"/>
              </a:lnSpc>
              <a:spcBef>
                <a:spcPct val="0"/>
              </a:spcBef>
              <a:buClrTx/>
              <a:buChar char="•"/>
            </a:pP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cin, cout</a:t>
            </a: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1257300" lvl="2" indent="-342900" algn="just">
              <a:lnSpc>
                <a:spcPct val="150000"/>
              </a:lnSpc>
              <a:spcBef>
                <a:spcPct val="0"/>
              </a:spcBef>
              <a:buClrTx/>
              <a:buChar char="•"/>
            </a:pP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getline(cin, firstName);</a:t>
            </a: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（可以包含空格）</a:t>
            </a: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字符串比较</a:t>
            </a: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1257300" lvl="2" indent="-342900" algn="just">
              <a:lnSpc>
                <a:spcPct val="150000"/>
              </a:lnSpc>
              <a:spcBef>
                <a:spcPct val="0"/>
              </a:spcBef>
              <a:buClrTx/>
            </a:pP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&lt;, &gt;</a:t>
            </a: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1257300" lvl="2" indent="-342900" algn="just">
              <a:lnSpc>
                <a:spcPct val="150000"/>
              </a:lnSpc>
              <a:spcBef>
                <a:spcPct val="0"/>
              </a:spcBef>
              <a:buClrTx/>
            </a:pP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类似于</a:t>
            </a:r>
            <a:r>
              <a:rPr lang="en-US" altLang="zh-CN" sz="2000" b="0" dirty="0">
                <a:solidFill>
                  <a:srgbClr val="FF0000"/>
                </a:solidFill>
                <a:latin typeface="Times New Roman" panose="02020603050405020304" pitchFamily="18" charset="0"/>
              </a:rPr>
              <a:t> &lt;cstring&gt;</a:t>
            </a:r>
            <a:r>
              <a:rPr lang="zh-CN" altLang="en-US" sz="2000" b="0" dirty="0">
                <a:solidFill>
                  <a:srgbClr val="FF0000"/>
                </a:solidFill>
                <a:latin typeface="Times New Roman" panose="02020603050405020304" pitchFamily="18" charset="0"/>
              </a:rPr>
              <a:t>中的</a:t>
            </a: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strcmp( )</a:t>
            </a: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1257300" lvl="2" indent="-342900" algn="just">
              <a:lnSpc>
                <a:spcPct val="150000"/>
              </a:lnSpc>
              <a:spcBef>
                <a:spcPct val="0"/>
              </a:spcBef>
              <a:buClrTx/>
            </a:pP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灯片编号占位符 3"/>
          <p:cNvSpPr txBox="1">
            <a:spLocks noGrp="1"/>
          </p:cNvSpPr>
          <p:nvPr>
            <p:ph type="sldNum" sz="quarter" idx="4"/>
          </p:nvPr>
        </p:nvSpPr>
        <p:spPr>
          <a:xfrm>
            <a:off x="8624888" y="6545263"/>
            <a:ext cx="519112" cy="320675"/>
          </a:xfrm>
        </p:spPr>
        <p:txBody>
          <a:bodyPr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 dirty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  <a:cs typeface="楷体_GB2312"/>
              </a:rPr>
            </a:fld>
            <a:endParaRPr lang="en-US" altLang="zh-CN" sz="1600" b="0" dirty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  <a:cs typeface="楷体_GB2312"/>
            </a:endParaRPr>
          </a:p>
        </p:txBody>
      </p:sp>
      <p:sp>
        <p:nvSpPr>
          <p:cNvPr id="40963" name="标题 1"/>
          <p:cNvSpPr txBox="1"/>
          <p:nvPr/>
        </p:nvSpPr>
        <p:spPr>
          <a:xfrm>
            <a:off x="1066800" y="457200"/>
            <a:ext cx="7391400" cy="4873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第</a:t>
            </a:r>
            <a:r>
              <a:rPr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7</a:t>
            </a: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章  </a:t>
            </a:r>
            <a:r>
              <a:rPr lang="zh-CN" altLang="zh-CN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字符、字符串</a:t>
            </a:r>
            <a:endParaRPr lang="zh-CN" altLang="en-US" sz="36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892" name="矩形 2"/>
          <p:cNvSpPr>
            <a:spLocks noChangeArrowheads="1"/>
          </p:cNvSpPr>
          <p:nvPr/>
        </p:nvSpPr>
        <p:spPr bwMode="auto">
          <a:xfrm>
            <a:off x="381000" y="1371600"/>
            <a:ext cx="8382000" cy="4459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&lt;string&gt;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 是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C++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标准库头文件，包含了 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std::string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 类的声明。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std::string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 是一个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用于字符串操作的类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，属于标准模板库（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STL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）的一部分。它提供了丰富的字符串操作方法，如拼接、查找、替换等。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&lt;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cstring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&gt;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 是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C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标准库头文件 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&lt;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string.h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&gt;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 的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C++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版本，包含了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C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风格字符串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（以 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\0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 结尾的字符串）相关的一些类型和函数的声明，如 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strcmp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、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strcpy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、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strcat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 等。这些函数主要用于处理字符数组。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0" name="灯片编号占位符 3"/>
          <p:cNvSpPr txBox="1">
            <a:spLocks noGrp="1"/>
          </p:cNvSpPr>
          <p:nvPr>
            <p:ph type="sldNum" sz="quarter" idx="4"/>
          </p:nvPr>
        </p:nvSpPr>
        <p:spPr>
          <a:xfrm>
            <a:off x="8624888" y="6545263"/>
            <a:ext cx="519112" cy="320675"/>
          </a:xfrm>
        </p:spPr>
        <p:txBody>
          <a:bodyPr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 dirty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  <a:cs typeface="楷体_GB2312"/>
              </a:rPr>
            </a:fld>
            <a:endParaRPr lang="en-US" altLang="zh-CN" sz="1600" b="0" dirty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  <a:cs typeface="楷体_GB2312"/>
            </a:endParaRPr>
          </a:p>
        </p:txBody>
      </p:sp>
      <p:sp>
        <p:nvSpPr>
          <p:cNvPr id="43011" name="标题 1"/>
          <p:cNvSpPr txBox="1"/>
          <p:nvPr/>
        </p:nvSpPr>
        <p:spPr>
          <a:xfrm>
            <a:off x="1066800" y="457200"/>
            <a:ext cx="7391400" cy="4873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第</a:t>
            </a:r>
            <a:r>
              <a:rPr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7</a:t>
            </a: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章  </a:t>
            </a:r>
            <a:r>
              <a:rPr lang="zh-CN" altLang="zh-CN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字符、字符串</a:t>
            </a:r>
            <a:endParaRPr lang="zh-CN" altLang="en-US" sz="36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012" name="矩形 2"/>
          <p:cNvSpPr/>
          <p:nvPr/>
        </p:nvSpPr>
        <p:spPr>
          <a:xfrm>
            <a:off x="762000" y="1371600"/>
            <a:ext cx="6324600" cy="581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342900" lvl="0" indent="-342900" algn="just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C++ string 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操作符</a:t>
            </a: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43013" name="Object 5"/>
          <p:cNvGraphicFramePr>
            <a:graphicFrameLocks noChangeAspect="1"/>
          </p:cNvGraphicFramePr>
          <p:nvPr/>
        </p:nvGraphicFramePr>
        <p:xfrm>
          <a:off x="457200" y="2133600"/>
          <a:ext cx="8486775" cy="342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" imgW="4777740" imgH="1927860" progId="Word.Picture.8">
                  <p:embed/>
                </p:oleObj>
              </mc:Choice>
              <mc:Fallback>
                <p:oleObj name="" r:id="rId1" imgW="4777740" imgH="1927860" progId="Word.Picture.8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57200" y="2133600"/>
                        <a:ext cx="8486775" cy="34226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4" name="矩形 3"/>
          <p:cNvSpPr/>
          <p:nvPr/>
        </p:nvSpPr>
        <p:spPr>
          <a:xfrm>
            <a:off x="3200400" y="5737225"/>
            <a:ext cx="2366963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#include &lt;string&gt;</a:t>
            </a:r>
            <a:endParaRPr lang="en-US" altLang="zh-CN" sz="2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8" name="灯片编号占位符 3"/>
          <p:cNvSpPr txBox="1">
            <a:spLocks noGrp="1"/>
          </p:cNvSpPr>
          <p:nvPr>
            <p:ph type="sldNum" sz="quarter" idx="4"/>
          </p:nvPr>
        </p:nvSpPr>
        <p:spPr>
          <a:xfrm>
            <a:off x="8624888" y="6545263"/>
            <a:ext cx="519112" cy="320675"/>
          </a:xfrm>
        </p:spPr>
        <p:txBody>
          <a:bodyPr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 dirty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  <a:cs typeface="楷体_GB2312"/>
              </a:rPr>
            </a:fld>
            <a:endParaRPr lang="en-US" altLang="zh-CN" sz="1600" b="0" dirty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  <a:cs typeface="楷体_GB2312"/>
            </a:endParaRPr>
          </a:p>
        </p:txBody>
      </p:sp>
      <p:sp>
        <p:nvSpPr>
          <p:cNvPr id="45059" name="标题 1"/>
          <p:cNvSpPr txBox="1"/>
          <p:nvPr/>
        </p:nvSpPr>
        <p:spPr>
          <a:xfrm>
            <a:off x="1066800" y="457200"/>
            <a:ext cx="7391400" cy="4873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第</a:t>
            </a:r>
            <a:r>
              <a:rPr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7</a:t>
            </a: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章  </a:t>
            </a:r>
            <a:r>
              <a:rPr lang="zh-CN" altLang="zh-CN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字符、字符串</a:t>
            </a:r>
            <a:endParaRPr lang="zh-CN" altLang="en-US" sz="36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62000" y="1371600"/>
            <a:ext cx="6324600" cy="1052513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marR="0" lvl="0" indent="-342900" algn="just" defTabSz="914400" rtl="0" eaLnBrk="0" fontAlgn="auto" latinLnBrk="0" hangingPunct="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C++ string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函数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0" indent="0" algn="just" defTabSz="914400" rtl="0" eaLnBrk="0" fontAlgn="auto" latinLnBrk="0" hangingPunct="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（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string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类的成员函数）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graphicFrame>
        <p:nvGraphicFramePr>
          <p:cNvPr id="45061" name="Object 6"/>
          <p:cNvGraphicFramePr>
            <a:graphicFrameLocks noChangeAspect="1"/>
          </p:cNvGraphicFramePr>
          <p:nvPr/>
        </p:nvGraphicFramePr>
        <p:xfrm>
          <a:off x="3352800" y="1241425"/>
          <a:ext cx="3949700" cy="546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1" imgW="20583525" imgH="28413075" progId="Word.Picture.8">
                  <p:embed/>
                </p:oleObj>
              </mc:Choice>
              <mc:Fallback>
                <p:oleObj name="" r:id="rId1" imgW="20583525" imgH="28413075" progId="Word.Picture.8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352800" y="1241425"/>
                        <a:ext cx="3949700" cy="54641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2" name="矩形 6"/>
          <p:cNvSpPr/>
          <p:nvPr/>
        </p:nvSpPr>
        <p:spPr>
          <a:xfrm>
            <a:off x="658813" y="2859088"/>
            <a:ext cx="2365375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#include &lt;string&gt;</a:t>
            </a:r>
            <a:endParaRPr lang="en-US" altLang="zh-CN" sz="2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6" name="灯片编号占位符 3"/>
          <p:cNvSpPr txBox="1">
            <a:spLocks noGrp="1"/>
          </p:cNvSpPr>
          <p:nvPr>
            <p:ph type="sldNum" sz="quarter" idx="4"/>
          </p:nvPr>
        </p:nvSpPr>
        <p:spPr>
          <a:xfrm>
            <a:off x="8624888" y="6545263"/>
            <a:ext cx="519112" cy="320675"/>
          </a:xfrm>
        </p:spPr>
        <p:txBody>
          <a:bodyPr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 dirty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  <a:cs typeface="楷体_GB2312"/>
              </a:rPr>
            </a:fld>
            <a:endParaRPr lang="en-US" altLang="zh-CN" sz="1600" b="0" dirty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  <a:cs typeface="楷体_GB2312"/>
            </a:endParaRPr>
          </a:p>
        </p:txBody>
      </p:sp>
      <p:sp>
        <p:nvSpPr>
          <p:cNvPr id="47107" name="标题 1"/>
          <p:cNvSpPr txBox="1"/>
          <p:nvPr/>
        </p:nvSpPr>
        <p:spPr>
          <a:xfrm>
            <a:off x="1066800" y="457200"/>
            <a:ext cx="7391400" cy="4873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第</a:t>
            </a:r>
            <a:r>
              <a:rPr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8</a:t>
            </a: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章 指针和动态内存管理</a:t>
            </a:r>
            <a:endParaRPr lang="zh-CN" altLang="en-US" sz="36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62000" y="1371600"/>
            <a:ext cx="7924800" cy="4459288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marR="0" lvl="0" indent="-342900" algn="just" defTabSz="914400" rtl="0" eaLnBrk="0" fontAlgn="auto" latinLnBrk="0" hangingPunct="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指针的定义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800100" marR="0" lvl="1" indent="-342900" algn="just" defTabSz="914400" rtl="0" eaLnBrk="0" fontAlgn="auto" latinLnBrk="0" hangingPunct="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概念：指针、地址、内容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800100" marR="0" lvl="1" indent="-342900" algn="just" defTabSz="914400" rtl="0" eaLnBrk="0" fontAlgn="auto" latinLnBrk="0" hangingPunct="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dataType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* 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pointerName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;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800100" marR="0" lvl="1" indent="-342900" algn="just" defTabSz="914400" rtl="0" eaLnBrk="0" fontAlgn="auto" latinLnBrk="0" hangingPunct="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比如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int *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pCount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;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342900" marR="0" lvl="0" indent="-342900" algn="just" defTabSz="914400" rtl="0" eaLnBrk="0" fontAlgn="auto" latinLnBrk="0" hangingPunct="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使用指针访问数组（通过地址）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342900" marR="0" lvl="0" indent="-342900" algn="just" defTabSz="914400" rtl="0" eaLnBrk="0" fontAlgn="auto" latinLnBrk="0" hangingPunct="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常量指针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vs.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指针常量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800100" marR="0" lvl="1" indent="-342900" algn="just" defTabSz="914400" rtl="0" eaLnBrk="0" fontAlgn="auto" latinLnBrk="0" hangingPunct="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指针常量：指针本身是一个常量，不能修改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800100" marR="0" lvl="1" indent="-342900" algn="just" defTabSz="914400" rtl="0" eaLnBrk="0" fontAlgn="auto" latinLnBrk="0" hangingPunct="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常量指针：指针指向地址里的内容不能修改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graphicFrame>
        <p:nvGraphicFramePr>
          <p:cNvPr id="8" name="Object 6"/>
          <p:cNvGraphicFramePr>
            <a:graphicFrameLocks noChangeAspect="1"/>
          </p:cNvGraphicFramePr>
          <p:nvPr/>
        </p:nvGraphicFramePr>
        <p:xfrm>
          <a:off x="468313" y="5791200"/>
          <a:ext cx="8180387" cy="1146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1" imgW="3200400" imgH="448310" progId="Word.Picture.8">
                  <p:embed/>
                </p:oleObj>
              </mc:Choice>
              <mc:Fallback>
                <p:oleObj name="" r:id="rId1" imgW="3200400" imgH="448310" progId="Word.Picture.8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68313" y="5791200"/>
                        <a:ext cx="8180387" cy="1146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49154" name="灯片编号占位符 3"/>
          <p:cNvSpPr txBox="1">
            <a:spLocks noGrp="1"/>
          </p:cNvSpPr>
          <p:nvPr>
            <p:ph type="sldNum" sz="quarter" idx="4"/>
          </p:nvPr>
        </p:nvSpPr>
        <p:spPr>
          <a:xfrm>
            <a:off x="8624888" y="6545263"/>
            <a:ext cx="519112" cy="320675"/>
          </a:xfrm>
        </p:spPr>
        <p:txBody>
          <a:bodyPr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 dirty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  <a:cs typeface="楷体_GB2312"/>
              </a:rPr>
            </a:fld>
            <a:endParaRPr lang="en-US" altLang="zh-CN" sz="1600" b="0" dirty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  <a:cs typeface="楷体_GB2312"/>
            </a:endParaRPr>
          </a:p>
        </p:txBody>
      </p:sp>
      <p:sp>
        <p:nvSpPr>
          <p:cNvPr id="49155" name="标题 1"/>
          <p:cNvSpPr txBox="1"/>
          <p:nvPr/>
        </p:nvSpPr>
        <p:spPr>
          <a:xfrm>
            <a:off x="1066800" y="457200"/>
            <a:ext cx="7391400" cy="4873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第</a:t>
            </a:r>
            <a:r>
              <a:rPr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8</a:t>
            </a: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章 指针和动态内存管理</a:t>
            </a:r>
            <a:endParaRPr lang="zh-CN" altLang="en-US" sz="36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49156" name="Object 2"/>
          <p:cNvGraphicFramePr>
            <a:graphicFrameLocks noChangeAspect="1"/>
          </p:cNvGraphicFramePr>
          <p:nvPr/>
        </p:nvGraphicFramePr>
        <p:xfrm>
          <a:off x="461963" y="1662113"/>
          <a:ext cx="8335962" cy="507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1" imgW="6324600" imgH="4562475" progId="Paint.Picture">
                  <p:embed/>
                </p:oleObj>
              </mc:Choice>
              <mc:Fallback>
                <p:oleObj name="" r:id="rId1" imgW="6324600" imgH="4562475" progId="Paint.Picture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61963" y="1662113"/>
                        <a:ext cx="8335962" cy="5070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57" name="Text Box 4"/>
          <p:cNvSpPr txBox="1"/>
          <p:nvPr/>
        </p:nvSpPr>
        <p:spPr>
          <a:xfrm>
            <a:off x="-36512" y="1123950"/>
            <a:ext cx="9180512" cy="4762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lnSpc>
                <a:spcPct val="105000"/>
              </a:lnSpc>
              <a:buClr>
                <a:srgbClr val="FF6699"/>
              </a:buClr>
              <a:buSzPct val="185000"/>
              <a:buFontTx/>
              <a:buNone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二维数组</a:t>
            </a: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:  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可以看作一维数组的数组，即元素为数组的数组</a:t>
            </a:r>
            <a:endParaRPr lang="zh-CN" altLang="en-US" sz="3200" b="0" dirty="0">
              <a:solidFill>
                <a:schemeClr val="tx1"/>
              </a:solidFill>
              <a:latin typeface="Melanie BT Std Roman" panose="02010600010101010101" charset="-122"/>
            </a:endParaRPr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2" name="灯片编号占位符 3"/>
          <p:cNvSpPr txBox="1">
            <a:spLocks noGrp="1"/>
          </p:cNvSpPr>
          <p:nvPr>
            <p:ph type="sldNum" sz="quarter" idx="4"/>
          </p:nvPr>
        </p:nvSpPr>
        <p:spPr>
          <a:xfrm>
            <a:off x="8624888" y="6545263"/>
            <a:ext cx="519112" cy="320675"/>
          </a:xfrm>
        </p:spPr>
        <p:txBody>
          <a:bodyPr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 dirty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  <a:cs typeface="楷体_GB2312"/>
              </a:rPr>
            </a:fld>
            <a:endParaRPr lang="en-US" altLang="zh-CN" sz="1600" b="0" dirty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  <a:cs typeface="楷体_GB2312"/>
            </a:endParaRPr>
          </a:p>
        </p:txBody>
      </p:sp>
      <p:sp>
        <p:nvSpPr>
          <p:cNvPr id="51203" name="标题 1"/>
          <p:cNvSpPr txBox="1"/>
          <p:nvPr/>
        </p:nvSpPr>
        <p:spPr>
          <a:xfrm>
            <a:off x="1066800" y="457200"/>
            <a:ext cx="7391400" cy="4873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第</a:t>
            </a:r>
            <a:r>
              <a:rPr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8</a:t>
            </a: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章 指针和动态内存管理</a:t>
            </a:r>
            <a:endParaRPr lang="zh-CN" altLang="en-US" sz="36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204" name="Text Box 4"/>
          <p:cNvSpPr txBox="1"/>
          <p:nvPr/>
        </p:nvSpPr>
        <p:spPr>
          <a:xfrm>
            <a:off x="373063" y="1290638"/>
            <a:ext cx="4370387" cy="4762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lnSpc>
                <a:spcPct val="105000"/>
              </a:lnSpc>
              <a:buClr>
                <a:srgbClr val="FF6699"/>
              </a:buClr>
              <a:buSzPct val="185000"/>
              <a:buFontTx/>
              <a:buNone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使用指针访问一维数组</a:t>
            </a:r>
            <a:endParaRPr lang="zh-CN" altLang="en-US" sz="3200" b="0" dirty="0">
              <a:solidFill>
                <a:schemeClr val="tx1"/>
              </a:solidFill>
              <a:latin typeface="Melanie BT Std Roman" panose="02010600010101010101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979988" y="2005013"/>
            <a:ext cx="3892550" cy="15700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Courier New" panose="02070309020205020404" pitchFamily="49" charset="0"/>
              </a:rPr>
              <a:t>int  a[3][4]={{1, 2, 3, 4,},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楷体_GB2312" pitchFamily="49" charset="-122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Courier New" panose="02070309020205020404" pitchFamily="49" charset="0"/>
              </a:rPr>
              <a:t>                     {5, 6, 7, 8},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楷体_GB2312" pitchFamily="49" charset="-122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Courier New" panose="02070309020205020404" pitchFamily="49" charset="0"/>
              </a:rPr>
              <a:t>                     {9, 10, 11, 12}};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楷体_GB2312" pitchFamily="49" charset="-122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Courier New" panose="02070309020205020404" pitchFamily="49" charset="0"/>
              </a:rPr>
              <a:t>int (*p)[4] = a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Courier New" panose="02070309020205020404" pitchFamily="49" charset="0"/>
              </a:rPr>
              <a:t>;   //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Courier New" panose="02070309020205020404" pitchFamily="49" charset="0"/>
              </a:rPr>
              <a:t>数组指针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楷体_GB2312" pitchFamily="49" charset="-122"/>
              <a:cs typeface="Courier New" panose="02070309020205020404" pitchFamily="49" charset="0"/>
            </a:endParaRPr>
          </a:p>
        </p:txBody>
      </p:sp>
      <p:sp>
        <p:nvSpPr>
          <p:cNvPr id="51206" name="矩形 3"/>
          <p:cNvSpPr/>
          <p:nvPr/>
        </p:nvSpPr>
        <p:spPr>
          <a:xfrm>
            <a:off x="4114800" y="3721100"/>
            <a:ext cx="2032000" cy="400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b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*(*(p+i)+j) </a:t>
            </a:r>
            <a:endParaRPr lang="zh-CN" altLang="en-US" sz="2000" b="0" dirty="0">
              <a:solidFill>
                <a:schemeClr val="tx1"/>
              </a:solidFill>
              <a:latin typeface="Times New Roman" panose="02020603050405020304" pitchFamily="18" charset="0"/>
              <a:ea typeface="Courier New" panose="02070309020205020404" pitchFamily="49" charset="0"/>
            </a:endParaRPr>
          </a:p>
        </p:txBody>
      </p:sp>
      <p:sp>
        <p:nvSpPr>
          <p:cNvPr id="51207" name="矩形 4"/>
          <p:cNvSpPr/>
          <p:nvPr/>
        </p:nvSpPr>
        <p:spPr>
          <a:xfrm>
            <a:off x="6248400" y="3721100"/>
            <a:ext cx="1416050" cy="400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b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p[i][j] </a:t>
            </a:r>
            <a:endParaRPr lang="zh-CN" altLang="en-US" sz="2000" b="0" dirty="0">
              <a:solidFill>
                <a:schemeClr val="tx1"/>
              </a:solidFill>
              <a:latin typeface="Times New Roman" panose="02020603050405020304" pitchFamily="18" charset="0"/>
              <a:ea typeface="Courier New" panose="02070309020205020404" pitchFamily="49" charset="0"/>
            </a:endParaRPr>
          </a:p>
        </p:txBody>
      </p:sp>
      <p:sp>
        <p:nvSpPr>
          <p:cNvPr id="51208" name="矩形 8"/>
          <p:cNvSpPr/>
          <p:nvPr/>
        </p:nvSpPr>
        <p:spPr>
          <a:xfrm>
            <a:off x="7754938" y="3721100"/>
            <a:ext cx="1416050" cy="400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b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a[i][j] </a:t>
            </a:r>
            <a:endParaRPr lang="zh-CN" altLang="en-US" sz="2000" b="0" dirty="0">
              <a:solidFill>
                <a:schemeClr val="tx1"/>
              </a:solidFill>
              <a:latin typeface="Times New Roman" panose="02020603050405020304" pitchFamily="18" charset="0"/>
              <a:ea typeface="Courier New" panose="02070309020205020404" pitchFamily="49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73063" y="2100263"/>
            <a:ext cx="6553200" cy="83185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Courier New" panose="02070309020205020404" pitchFamily="49" charset="0"/>
              </a:rPr>
              <a:t>int x[4] = {10,20,30,40};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楷体_GB2312" pitchFamily="49" charset="-122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Courier New" panose="02070309020205020404" pitchFamily="49" charset="0"/>
              </a:rPr>
              <a:t>int *p = x;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楷体_GB2312" pitchFamily="49" charset="-122"/>
              <a:cs typeface="+mn-cs"/>
            </a:endParaRPr>
          </a:p>
        </p:txBody>
      </p:sp>
      <p:sp>
        <p:nvSpPr>
          <p:cNvPr id="51210" name="矩形 9"/>
          <p:cNvSpPr/>
          <p:nvPr/>
        </p:nvSpPr>
        <p:spPr>
          <a:xfrm>
            <a:off x="685800" y="3114675"/>
            <a:ext cx="1290638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400" b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*(p+i)</a:t>
            </a:r>
            <a:endParaRPr lang="zh-CN" altLang="en-US" sz="2400" b="0" dirty="0">
              <a:solidFill>
                <a:schemeClr val="tx1"/>
              </a:solidFill>
              <a:latin typeface="Times New Roman" panose="02020603050405020304" pitchFamily="18" charset="0"/>
              <a:ea typeface="Courier New" panose="02070309020205020404" pitchFamily="49" charset="0"/>
            </a:endParaRPr>
          </a:p>
        </p:txBody>
      </p:sp>
      <p:sp>
        <p:nvSpPr>
          <p:cNvPr id="51211" name="矩形 10"/>
          <p:cNvSpPr/>
          <p:nvPr/>
        </p:nvSpPr>
        <p:spPr>
          <a:xfrm>
            <a:off x="2887663" y="3095625"/>
            <a:ext cx="922337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400" b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x[i]</a:t>
            </a:r>
            <a:endParaRPr lang="zh-CN" altLang="en-US" sz="2400" b="0" dirty="0">
              <a:solidFill>
                <a:schemeClr val="tx1"/>
              </a:solidFill>
              <a:latin typeface="Times New Roman" panose="02020603050405020304" pitchFamily="18" charset="0"/>
              <a:ea typeface="Courier New" panose="02070309020205020404" pitchFamily="49" charset="0"/>
            </a:endParaRPr>
          </a:p>
        </p:txBody>
      </p:sp>
      <p:sp>
        <p:nvSpPr>
          <p:cNvPr id="51212" name="Text Box 4"/>
          <p:cNvSpPr txBox="1"/>
          <p:nvPr/>
        </p:nvSpPr>
        <p:spPr>
          <a:xfrm>
            <a:off x="5116513" y="1322388"/>
            <a:ext cx="4370387" cy="4762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lnSpc>
                <a:spcPct val="105000"/>
              </a:lnSpc>
              <a:buClr>
                <a:srgbClr val="FF6699"/>
              </a:buClr>
              <a:buSzPct val="185000"/>
              <a:buFontTx/>
              <a:buNone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使用指针访问二维数组</a:t>
            </a:r>
            <a:endParaRPr lang="zh-CN" altLang="en-US" sz="3200" b="0" dirty="0">
              <a:solidFill>
                <a:schemeClr val="tx1"/>
              </a:solidFill>
              <a:latin typeface="Melanie BT Std Roman" panose="02010600010101010101" charset="-122"/>
            </a:endParaRPr>
          </a:p>
        </p:txBody>
      </p:sp>
      <p:sp>
        <p:nvSpPr>
          <p:cNvPr id="51213" name="矩形 1"/>
          <p:cNvSpPr/>
          <p:nvPr/>
        </p:nvSpPr>
        <p:spPr>
          <a:xfrm>
            <a:off x="931863" y="5392738"/>
            <a:ext cx="2224087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dirty="0">
                <a:solidFill>
                  <a:srgbClr val="1B6AC7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*p1[10];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1214" name="矩形 3"/>
          <p:cNvSpPr/>
          <p:nvPr/>
        </p:nvSpPr>
        <p:spPr>
          <a:xfrm>
            <a:off x="931863" y="5938838"/>
            <a:ext cx="2563812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dirty="0">
                <a:solidFill>
                  <a:srgbClr val="1B6AC7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(*p2)[10];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1215" name="矩形 4"/>
          <p:cNvSpPr/>
          <p:nvPr/>
        </p:nvSpPr>
        <p:spPr>
          <a:xfrm>
            <a:off x="381000" y="4695825"/>
            <a:ext cx="3498850" cy="5810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Times New Roman" panose="02020603050405020304" pitchFamily="18" charset="0"/>
              </a:rPr>
              <a:t>指针数组 </a:t>
            </a:r>
            <a:r>
              <a:rPr lang="en-US" altLang="zh-CN" dirty="0">
                <a:latin typeface="Times New Roman" panose="02020603050405020304" pitchFamily="18" charset="0"/>
              </a:rPr>
              <a:t>vs.</a:t>
            </a:r>
            <a:r>
              <a:rPr lang="zh-CN" altLang="en-US" dirty="0">
                <a:latin typeface="Times New Roman" panose="02020603050405020304" pitchFamily="18" charset="0"/>
              </a:rPr>
              <a:t> 数组指针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50" name="灯片编号占位符 3"/>
          <p:cNvSpPr txBox="1">
            <a:spLocks noGrp="1"/>
          </p:cNvSpPr>
          <p:nvPr>
            <p:ph type="sldNum" sz="quarter" idx="4"/>
          </p:nvPr>
        </p:nvSpPr>
        <p:spPr>
          <a:xfrm>
            <a:off x="8482013" y="6503988"/>
            <a:ext cx="519112" cy="320675"/>
          </a:xfrm>
        </p:spPr>
        <p:txBody>
          <a:bodyPr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 dirty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  <a:cs typeface="楷体_GB2312"/>
              </a:rPr>
            </a:fld>
            <a:endParaRPr lang="en-US" altLang="zh-CN" sz="1600" b="0" dirty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  <a:cs typeface="楷体_GB2312"/>
            </a:endParaRPr>
          </a:p>
        </p:txBody>
      </p:sp>
      <p:sp>
        <p:nvSpPr>
          <p:cNvPr id="53251" name="标题 1"/>
          <p:cNvSpPr txBox="1"/>
          <p:nvPr/>
        </p:nvSpPr>
        <p:spPr>
          <a:xfrm>
            <a:off x="1066800" y="457200"/>
            <a:ext cx="7391400" cy="4873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第</a:t>
            </a:r>
            <a:r>
              <a:rPr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8</a:t>
            </a: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章 指针和动态内存管理</a:t>
            </a:r>
            <a:endParaRPr lang="zh-CN" altLang="en-US" sz="36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252" name="矩形 13"/>
          <p:cNvSpPr/>
          <p:nvPr/>
        </p:nvSpPr>
        <p:spPr>
          <a:xfrm>
            <a:off x="5334000" y="2362200"/>
            <a:ext cx="3276600" cy="3786188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数组的动态内存分配</a:t>
            </a:r>
            <a:endParaRPr lang="en-US" altLang="zh-CN" sz="2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zh-CN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int </a:t>
            </a: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**m;</a:t>
            </a:r>
            <a:endParaRPr lang="en-US" altLang="zh-CN" sz="2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m=</a:t>
            </a:r>
            <a:r>
              <a:rPr lang="en-US" altLang="zh-CN" sz="2400" b="0" dirty="0">
                <a:solidFill>
                  <a:srgbClr val="FF0000"/>
                </a:solidFill>
                <a:latin typeface="Times New Roman" panose="02020603050405020304" pitchFamily="18" charset="0"/>
              </a:rPr>
              <a:t>new</a:t>
            </a: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int *[3];</a:t>
            </a:r>
            <a:endParaRPr lang="en-US" altLang="zh-CN" sz="2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for(int i=0,i&lt;3,i++)</a:t>
            </a:r>
            <a:endParaRPr lang="en-US" altLang="zh-CN" sz="2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 m[i]= </a:t>
            </a:r>
            <a:r>
              <a:rPr lang="en-US" altLang="zh-CN" sz="2400" b="0" dirty="0">
                <a:solidFill>
                  <a:srgbClr val="FF0000"/>
                </a:solidFill>
                <a:latin typeface="Times New Roman" panose="02020603050405020304" pitchFamily="18" charset="0"/>
              </a:rPr>
              <a:t>new</a:t>
            </a: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int[4];</a:t>
            </a:r>
            <a:endParaRPr lang="en-US" altLang="zh-CN" sz="2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en-US" altLang="zh-CN" sz="2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释放</a:t>
            </a:r>
            <a:endParaRPr lang="en-US" altLang="zh-CN" sz="2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nn-NO" altLang="zh-CN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for(i=0; i&lt;3; i++)</a:t>
            </a:r>
            <a:endParaRPr lang="nn-NO" altLang="zh-CN" sz="2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nn-NO" altLang="zh-CN" sz="2400" b="0" dirty="0">
                <a:solidFill>
                  <a:srgbClr val="FF0000"/>
                </a:solidFill>
                <a:latin typeface="Times New Roman" panose="02020603050405020304" pitchFamily="18" charset="0"/>
              </a:rPr>
              <a:t>     delete </a:t>
            </a:r>
            <a:r>
              <a:rPr lang="nn-NO" altLang="zh-CN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[] p[i]; </a:t>
            </a:r>
            <a:endParaRPr lang="nn-NO" altLang="zh-CN" sz="2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nn-NO" altLang="zh-CN" sz="2400" b="0" dirty="0">
                <a:solidFill>
                  <a:srgbClr val="FF0000"/>
                </a:solidFill>
                <a:latin typeface="Times New Roman" panose="02020603050405020304" pitchFamily="18" charset="0"/>
              </a:rPr>
              <a:t>delete</a:t>
            </a:r>
            <a:r>
              <a:rPr lang="nn-NO" altLang="zh-CN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[] p; </a:t>
            </a:r>
            <a:endParaRPr lang="zh-CN" altLang="en-US" sz="2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253" name="矩形 5"/>
          <p:cNvSpPr/>
          <p:nvPr/>
        </p:nvSpPr>
        <p:spPr>
          <a:xfrm>
            <a:off x="457200" y="1295400"/>
            <a:ext cx="4572000" cy="50117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342900" lvl="0" indent="-342900" algn="just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动态内存管理</a:t>
            </a:r>
            <a:endParaRPr lang="en-US" altLang="zh-CN" sz="2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new/delete</a:t>
            </a:r>
            <a:endParaRPr lang="en-US" altLang="zh-CN" sz="2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动态分配变量</a:t>
            </a:r>
            <a:endParaRPr lang="en-US" altLang="zh-CN" sz="2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US" altLang="zh-CN" sz="2400" b="0" dirty="0">
                <a:solidFill>
                  <a:srgbClr val="CC0099"/>
                </a:solidFill>
                <a:latin typeface="Times New Roman" panose="02020603050405020304" pitchFamily="18" charset="0"/>
              </a:rPr>
              <a:t>int *pValue = </a:t>
            </a:r>
            <a:r>
              <a:rPr lang="en-US" altLang="zh-CN" sz="2400" b="0" dirty="0">
                <a:solidFill>
                  <a:srgbClr val="33CC33"/>
                </a:solidFill>
                <a:latin typeface="Times New Roman" panose="02020603050405020304" pitchFamily="18" charset="0"/>
              </a:rPr>
              <a:t>new</a:t>
            </a:r>
            <a:r>
              <a:rPr lang="en-US" altLang="zh-CN" sz="2400" b="0" dirty="0">
                <a:solidFill>
                  <a:srgbClr val="CC0099"/>
                </a:solidFill>
                <a:latin typeface="Times New Roman" panose="02020603050405020304" pitchFamily="18" charset="0"/>
              </a:rPr>
              <a:t> int;</a:t>
            </a:r>
            <a:endParaRPr lang="en-US" altLang="zh-CN" sz="2400" b="0" dirty="0">
              <a:solidFill>
                <a:srgbClr val="CC0099"/>
              </a:solidFill>
              <a:latin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new/delete</a:t>
            </a:r>
            <a:endParaRPr lang="en-US" altLang="zh-CN" sz="2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动态分配数组</a:t>
            </a:r>
            <a:endParaRPr lang="en-US" altLang="zh-CN" sz="2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US" altLang="zh-CN" sz="2400" b="0" dirty="0">
                <a:solidFill>
                  <a:srgbClr val="CC0099"/>
                </a:solidFill>
                <a:latin typeface="Times New Roman" panose="02020603050405020304" pitchFamily="18" charset="0"/>
              </a:rPr>
              <a:t>int *mylist = </a:t>
            </a:r>
            <a:r>
              <a:rPr lang="en-US" altLang="zh-CN" sz="2400" b="0" dirty="0">
                <a:solidFill>
                  <a:srgbClr val="33CC33"/>
                </a:solidFill>
                <a:latin typeface="Times New Roman" panose="02020603050405020304" pitchFamily="18" charset="0"/>
              </a:rPr>
              <a:t>new</a:t>
            </a:r>
            <a:r>
              <a:rPr lang="en-US" altLang="zh-CN" sz="2400" b="0" dirty="0">
                <a:solidFill>
                  <a:srgbClr val="CC0099"/>
                </a:solidFill>
                <a:latin typeface="Times New Roman" panose="02020603050405020304" pitchFamily="18" charset="0"/>
              </a:rPr>
              <a:t> int[10];</a:t>
            </a:r>
            <a:endParaRPr lang="en-US" altLang="zh-CN" sz="2400" b="0" dirty="0">
              <a:solidFill>
                <a:srgbClr val="CC0099"/>
              </a:solidFill>
              <a:latin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new type[size]</a:t>
            </a:r>
            <a:endParaRPr lang="en-US" altLang="zh-CN" sz="2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delete[]</a:t>
            </a:r>
            <a:endParaRPr lang="en-US" altLang="zh-CN" sz="2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8" name="灯片编号占位符 3"/>
          <p:cNvSpPr txBox="1">
            <a:spLocks noGrp="1"/>
          </p:cNvSpPr>
          <p:nvPr>
            <p:ph type="sldNum" sz="quarter" idx="4"/>
          </p:nvPr>
        </p:nvSpPr>
        <p:spPr>
          <a:xfrm>
            <a:off x="8482013" y="6503988"/>
            <a:ext cx="519112" cy="320675"/>
          </a:xfrm>
        </p:spPr>
        <p:txBody>
          <a:bodyPr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 dirty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  <a:cs typeface="楷体_GB2312"/>
              </a:rPr>
            </a:fld>
            <a:endParaRPr lang="en-US" altLang="zh-CN" sz="1600" b="0" dirty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  <a:cs typeface="楷体_GB2312"/>
            </a:endParaRPr>
          </a:p>
        </p:txBody>
      </p:sp>
      <p:sp>
        <p:nvSpPr>
          <p:cNvPr id="55299" name="标题 1"/>
          <p:cNvSpPr txBox="1"/>
          <p:nvPr/>
        </p:nvSpPr>
        <p:spPr>
          <a:xfrm>
            <a:off x="1066800" y="457200"/>
            <a:ext cx="7391400" cy="4873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第</a:t>
            </a:r>
            <a:r>
              <a:rPr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8</a:t>
            </a: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章 指针和动态内存管理</a:t>
            </a:r>
            <a:endParaRPr lang="zh-CN" altLang="en-US" sz="36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5300" name="矩形 13"/>
          <p:cNvSpPr/>
          <p:nvPr/>
        </p:nvSpPr>
        <p:spPr>
          <a:xfrm>
            <a:off x="457200" y="1219200"/>
            <a:ext cx="6934200" cy="461963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创建动态二维数组（使用指针数组和数组指针）</a:t>
            </a:r>
            <a:endParaRPr lang="en-US" altLang="zh-CN" sz="2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55301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3863" y="1955800"/>
            <a:ext cx="7043737" cy="43529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6" name="灯片编号占位符 3"/>
          <p:cNvSpPr txBox="1">
            <a:spLocks noGrp="1"/>
          </p:cNvSpPr>
          <p:nvPr>
            <p:ph type="sldNum" sz="quarter" idx="4"/>
          </p:nvPr>
        </p:nvSpPr>
        <p:spPr>
          <a:xfrm>
            <a:off x="8482013" y="6503988"/>
            <a:ext cx="519112" cy="320675"/>
          </a:xfrm>
        </p:spPr>
        <p:txBody>
          <a:bodyPr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 dirty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  <a:cs typeface="楷体_GB2312"/>
              </a:rPr>
            </a:fld>
            <a:endParaRPr lang="en-US" altLang="zh-CN" sz="1600" b="0" dirty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  <a:cs typeface="楷体_GB2312"/>
            </a:endParaRPr>
          </a:p>
        </p:txBody>
      </p:sp>
      <p:sp>
        <p:nvSpPr>
          <p:cNvPr id="57347" name="标题 1"/>
          <p:cNvSpPr txBox="1"/>
          <p:nvPr/>
        </p:nvSpPr>
        <p:spPr>
          <a:xfrm>
            <a:off x="1066800" y="457200"/>
            <a:ext cx="7391400" cy="4873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第</a:t>
            </a:r>
            <a:r>
              <a:rPr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8</a:t>
            </a: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章 指针和动态内存管理</a:t>
            </a:r>
            <a:endParaRPr lang="zh-CN" altLang="en-US" sz="36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7348" name="矩形 13"/>
          <p:cNvSpPr/>
          <p:nvPr/>
        </p:nvSpPr>
        <p:spPr>
          <a:xfrm>
            <a:off x="457200" y="1219200"/>
            <a:ext cx="5410200" cy="461963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创建动态二维数组（使用容器）</a:t>
            </a:r>
            <a:endParaRPr lang="en-US" altLang="zh-CN" sz="2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57349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09800"/>
            <a:ext cx="7102475" cy="31003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4" name="灯片编号占位符 3"/>
          <p:cNvSpPr txBox="1">
            <a:spLocks noGrp="1"/>
          </p:cNvSpPr>
          <p:nvPr>
            <p:ph type="sldNum" sz="quarter" idx="4"/>
          </p:nvPr>
        </p:nvSpPr>
        <p:spPr>
          <a:xfrm>
            <a:off x="8624888" y="6545263"/>
            <a:ext cx="519112" cy="320675"/>
          </a:xfrm>
        </p:spPr>
        <p:txBody>
          <a:bodyPr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 dirty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  <a:cs typeface="楷体_GB2312"/>
              </a:rPr>
            </a:fld>
            <a:endParaRPr lang="en-US" altLang="zh-CN" sz="1600" b="0" dirty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  <a:cs typeface="楷体_GB2312"/>
            </a:endParaRPr>
          </a:p>
        </p:txBody>
      </p:sp>
      <p:sp>
        <p:nvSpPr>
          <p:cNvPr id="59395" name="标题 1"/>
          <p:cNvSpPr txBox="1"/>
          <p:nvPr/>
        </p:nvSpPr>
        <p:spPr>
          <a:xfrm>
            <a:off x="1066800" y="457200"/>
            <a:ext cx="7391400" cy="4873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第</a:t>
            </a:r>
            <a:r>
              <a:rPr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8</a:t>
            </a: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章 指针和动态内存管理</a:t>
            </a:r>
            <a:endParaRPr lang="zh-CN" altLang="en-US" sz="36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9396" name="Text Box 4"/>
          <p:cNvSpPr txBox="1"/>
          <p:nvPr/>
        </p:nvSpPr>
        <p:spPr>
          <a:xfrm>
            <a:off x="373063" y="1290638"/>
            <a:ext cx="4370387" cy="587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lnSpc>
                <a:spcPct val="105000"/>
              </a:lnSpc>
              <a:buClr>
                <a:srgbClr val="FF6699"/>
              </a:buClr>
              <a:buSzPct val="185000"/>
              <a:buFontTx/>
              <a:buNone/>
            </a:pPr>
            <a:r>
              <a:rPr lang="zh-CN" altLang="en-US" sz="3200" b="0" dirty="0">
                <a:solidFill>
                  <a:schemeClr val="tx1"/>
                </a:solidFill>
                <a:latin typeface="Melanie BT Std Roman" panose="02010600010101010101" charset="-122"/>
              </a:rPr>
              <a:t>动态内存管理</a:t>
            </a:r>
            <a:endParaRPr lang="en-US" altLang="zh-CN" sz="3200" b="0" dirty="0">
              <a:solidFill>
                <a:schemeClr val="tx1"/>
              </a:solidFill>
              <a:latin typeface="Melanie BT Std Roman" panose="02010600010101010101" charset="-122"/>
            </a:endParaRPr>
          </a:p>
        </p:txBody>
      </p:sp>
      <p:pic>
        <p:nvPicPr>
          <p:cNvPr id="59397" name="Picture 2" descr="https://developer.qcloudimg.com/http-save/yehe-100000/571fe8c9997dcdf1275aff3f34d76b0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878013"/>
            <a:ext cx="6921500" cy="48021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9398" name="矩形 5"/>
          <p:cNvSpPr/>
          <p:nvPr/>
        </p:nvSpPr>
        <p:spPr>
          <a:xfrm>
            <a:off x="703263" y="6389688"/>
            <a:ext cx="777240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https://cloud.tencent.com/developer/article/2607582</a:t>
            </a:r>
            <a:endParaRPr lang="zh-CN" altLang="en-US" sz="2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42" name="灯片编号占位符 3"/>
          <p:cNvSpPr txBox="1">
            <a:spLocks noGrp="1"/>
          </p:cNvSpPr>
          <p:nvPr>
            <p:ph type="sldNum" sz="quarter" idx="4"/>
          </p:nvPr>
        </p:nvSpPr>
        <p:spPr>
          <a:xfrm>
            <a:off x="8624888" y="6545263"/>
            <a:ext cx="519112" cy="320675"/>
          </a:xfrm>
        </p:spPr>
        <p:txBody>
          <a:bodyPr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 dirty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  <a:cs typeface="楷体_GB2312"/>
              </a:rPr>
            </a:fld>
            <a:endParaRPr lang="en-US" altLang="zh-CN" sz="1600" b="0" dirty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  <a:cs typeface="楷体_GB2312"/>
            </a:endParaRPr>
          </a:p>
        </p:txBody>
      </p:sp>
      <p:sp>
        <p:nvSpPr>
          <p:cNvPr id="61443" name="标题 1"/>
          <p:cNvSpPr txBox="1"/>
          <p:nvPr/>
        </p:nvSpPr>
        <p:spPr>
          <a:xfrm>
            <a:off x="1066800" y="457200"/>
            <a:ext cx="7391400" cy="4873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第</a:t>
            </a:r>
            <a:r>
              <a:rPr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9</a:t>
            </a: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章 函数</a:t>
            </a:r>
            <a:endParaRPr lang="zh-CN" altLang="en-US" sz="36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61444" name="Object 11"/>
          <p:cNvGraphicFramePr>
            <a:graphicFrameLocks noChangeAspect="1"/>
          </p:cNvGraphicFramePr>
          <p:nvPr/>
        </p:nvGraphicFramePr>
        <p:xfrm>
          <a:off x="695325" y="2725738"/>
          <a:ext cx="7924800" cy="3709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1" imgW="16125825" imgH="7534275" progId="Word.Picture.8">
                  <p:embed/>
                </p:oleObj>
              </mc:Choice>
              <mc:Fallback>
                <p:oleObj name="" r:id="rId1" imgW="16125825" imgH="7534275" progId="Word.Picture.8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95325" y="2725738"/>
                        <a:ext cx="7924800" cy="370998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45" name="矩形 2"/>
          <p:cNvSpPr/>
          <p:nvPr/>
        </p:nvSpPr>
        <p:spPr>
          <a:xfrm>
            <a:off x="304800" y="1219200"/>
            <a:ext cx="4572000" cy="19145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285750" lvl="0" indent="-285750">
              <a:lnSpc>
                <a:spcPct val="120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n"/>
            </a:pPr>
            <a:r>
              <a:rPr lang="zh-CN" altLang="en-US" sz="1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控制流转移  </a:t>
            </a: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Passing control flow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457200" lvl="1" indent="0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</a:rPr>
              <a:t>跳转</a:t>
            </a:r>
            <a:r>
              <a:rPr lang="zh-CN" altLang="en-US" sz="16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至过程代码的开始位置（过程调用时）</a:t>
            </a:r>
            <a:endParaRPr lang="en-US" altLang="zh-CN" sz="16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457200" lvl="1" indent="0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</a:rPr>
              <a:t>跳转</a:t>
            </a:r>
            <a:r>
              <a:rPr lang="zh-CN" altLang="en-US" sz="16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至返回点（过程返回时）</a:t>
            </a:r>
            <a:endParaRPr lang="en-US" altLang="zh-CN" sz="16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285750" lvl="0" indent="-285750">
              <a:lnSpc>
                <a:spcPct val="120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n"/>
            </a:pPr>
            <a:r>
              <a:rPr lang="zh-CN" altLang="en-US" sz="1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数据传递 </a:t>
            </a: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Passing data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457200" lvl="1" indent="0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16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过程的参数  </a:t>
            </a:r>
            <a:r>
              <a:rPr lang="en-US" altLang="zh-CN" sz="16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Procedure arguments</a:t>
            </a:r>
            <a:endParaRPr lang="en-US" altLang="zh-CN" sz="16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457200" lvl="1" indent="0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16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返回值  </a:t>
            </a:r>
            <a:r>
              <a:rPr lang="en-US" altLang="zh-CN" sz="16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Return value</a:t>
            </a:r>
            <a:endParaRPr lang="en-US" altLang="zh-CN" sz="16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446" name="矩形 3"/>
          <p:cNvSpPr/>
          <p:nvPr/>
        </p:nvSpPr>
        <p:spPr>
          <a:xfrm>
            <a:off x="5029200" y="1219200"/>
            <a:ext cx="3505200" cy="990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285750" lvl="0" indent="-285750">
              <a:lnSpc>
                <a:spcPct val="120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n"/>
            </a:pPr>
            <a:r>
              <a:rPr lang="zh-CN" altLang="en-US" sz="1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存储管理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457200" lvl="1" indent="0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16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在过程执行时分配存储空间</a:t>
            </a:r>
            <a:endParaRPr lang="en-US" altLang="zh-CN" sz="16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457200" lvl="1" indent="0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16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在过程返回时回收空间</a:t>
            </a:r>
            <a:endParaRPr lang="en-US" altLang="zh-CN" sz="16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490" name="灯片编号占位符 3"/>
          <p:cNvSpPr txBox="1">
            <a:spLocks noGrp="1"/>
          </p:cNvSpPr>
          <p:nvPr>
            <p:ph type="sldNum" sz="quarter" idx="4"/>
          </p:nvPr>
        </p:nvSpPr>
        <p:spPr>
          <a:xfrm>
            <a:off x="8624888" y="6545263"/>
            <a:ext cx="519112" cy="320675"/>
          </a:xfrm>
        </p:spPr>
        <p:txBody>
          <a:bodyPr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 dirty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  <a:cs typeface="楷体_GB2312"/>
              </a:rPr>
            </a:fld>
            <a:endParaRPr lang="en-US" altLang="zh-CN" sz="1600" b="0" dirty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  <a:cs typeface="楷体_GB2312"/>
            </a:endParaRPr>
          </a:p>
        </p:txBody>
      </p:sp>
      <p:sp>
        <p:nvSpPr>
          <p:cNvPr id="63491" name="标题 1"/>
          <p:cNvSpPr txBox="1"/>
          <p:nvPr/>
        </p:nvSpPr>
        <p:spPr>
          <a:xfrm>
            <a:off x="1066800" y="457200"/>
            <a:ext cx="7391400" cy="4873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第</a:t>
            </a:r>
            <a:r>
              <a:rPr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9</a:t>
            </a: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章 函数</a:t>
            </a:r>
            <a:endParaRPr lang="zh-CN" altLang="en-US" sz="36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3492" name="矩形 8"/>
          <p:cNvSpPr/>
          <p:nvPr/>
        </p:nvSpPr>
        <p:spPr>
          <a:xfrm>
            <a:off x="698500" y="1109663"/>
            <a:ext cx="7924800" cy="55657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342900" lvl="0" indent="-342900" algn="just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函数的定义和声明</a:t>
            </a:r>
            <a:endParaRPr lang="en-US" altLang="zh-CN" sz="2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参数传递</a:t>
            </a:r>
            <a:endParaRPr lang="en-US" altLang="zh-CN" sz="2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传值：实参和形参是处于两个不同的地址空间</a:t>
            </a: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传址：实参是变量地址，形参是指针。</a:t>
            </a: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传引用：形参是实参的别名，地址相同</a:t>
            </a: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默认参数</a:t>
            </a:r>
            <a:endParaRPr lang="en-US" altLang="zh-CN" sz="2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函数返回</a:t>
            </a:r>
            <a:endParaRPr lang="en-US" altLang="zh-CN" sz="2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类型</a:t>
            </a: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方式：传值、传址、传引用</a:t>
            </a: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函数重载</a:t>
            </a:r>
            <a:endParaRPr lang="en-US" altLang="zh-CN" sz="2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变量作用域（全局变量、局部变量）</a:t>
            </a:r>
            <a:endParaRPr lang="en-US" altLang="zh-CN" sz="2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538" name="灯片编号占位符 3"/>
          <p:cNvSpPr txBox="1">
            <a:spLocks noGrp="1"/>
          </p:cNvSpPr>
          <p:nvPr>
            <p:ph type="sldNum" sz="quarter" idx="4"/>
          </p:nvPr>
        </p:nvSpPr>
        <p:spPr>
          <a:xfrm>
            <a:off x="8624888" y="6545263"/>
            <a:ext cx="519112" cy="320675"/>
          </a:xfrm>
        </p:spPr>
        <p:txBody>
          <a:bodyPr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 dirty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  <a:cs typeface="楷体_GB2312"/>
              </a:rPr>
            </a:fld>
            <a:endParaRPr lang="en-US" altLang="zh-CN" sz="1600" b="0" dirty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  <a:cs typeface="楷体_GB2312"/>
            </a:endParaRPr>
          </a:p>
        </p:txBody>
      </p:sp>
      <p:sp>
        <p:nvSpPr>
          <p:cNvPr id="65539" name="标题 1"/>
          <p:cNvSpPr txBox="1"/>
          <p:nvPr/>
        </p:nvSpPr>
        <p:spPr>
          <a:xfrm>
            <a:off x="1066800" y="457200"/>
            <a:ext cx="7391400" cy="4873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第</a:t>
            </a:r>
            <a:r>
              <a:rPr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10</a:t>
            </a: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章 递归程序设计</a:t>
            </a:r>
            <a:endParaRPr lang="zh-CN" altLang="en-US" sz="36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5540" name="矩形 7"/>
          <p:cNvSpPr/>
          <p:nvPr/>
        </p:nvSpPr>
        <p:spPr>
          <a:xfrm>
            <a:off x="558800" y="1143000"/>
            <a:ext cx="7924800" cy="2992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342900" lvl="0" indent="-342900" algn="just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函数内部调用自身</a:t>
            </a:r>
            <a:endParaRPr lang="en-US" altLang="zh-CN" sz="2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递归函数的原理</a:t>
            </a:r>
            <a:endParaRPr lang="en-US" altLang="zh-CN" sz="2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递推：将原问题不断分解为</a:t>
            </a:r>
            <a:r>
              <a:rPr lang="zh-CN" altLang="en-US" sz="2000" b="0" dirty="0">
                <a:solidFill>
                  <a:srgbClr val="FF0000"/>
                </a:solidFill>
                <a:latin typeface="Times New Roman" panose="02020603050405020304" pitchFamily="18" charset="0"/>
              </a:rPr>
              <a:t>子问题</a:t>
            </a: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，直到达到</a:t>
            </a:r>
            <a:r>
              <a:rPr lang="zh-CN" altLang="en-US" sz="2000" b="0" dirty="0">
                <a:solidFill>
                  <a:srgbClr val="FF0000"/>
                </a:solidFill>
                <a:latin typeface="Times New Roman" panose="02020603050405020304" pitchFamily="18" charset="0"/>
              </a:rPr>
              <a:t>结束条件</a:t>
            </a: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，返回最近子问题的解；</a:t>
            </a: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回归：</a:t>
            </a:r>
            <a:r>
              <a:rPr lang="zh-CN" altLang="en-US" sz="2000" b="0" dirty="0">
                <a:solidFill>
                  <a:srgbClr val="FF0000"/>
                </a:solidFill>
                <a:latin typeface="Times New Roman" panose="02020603050405020304" pitchFamily="18" charset="0"/>
              </a:rPr>
              <a:t>逆向</a:t>
            </a: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逐一回归，最终到达递推开始时的原问题，返回原问题的解。</a:t>
            </a: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65541" name="Picture 2" descr="https://c.biancheng.net/uploads/allimg/250407/2-25040G11506411.gi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4572000"/>
            <a:ext cx="4002088" cy="20574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5542" name="Picture 4" descr="https://c.biancheng.net/uploads/allimg/250407/2-25040G1151W42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7113" y="4495800"/>
            <a:ext cx="3884612" cy="21478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5543" name="矩形 2"/>
          <p:cNvSpPr/>
          <p:nvPr/>
        </p:nvSpPr>
        <p:spPr>
          <a:xfrm>
            <a:off x="228600" y="4211638"/>
            <a:ext cx="2193925" cy="400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2000" b="0" dirty="0">
                <a:solidFill>
                  <a:srgbClr val="444444"/>
                </a:solidFill>
                <a:latin typeface="Sweetie" panose="020B0606030804020204" charset="0"/>
              </a:rPr>
              <a:t>以</a:t>
            </a:r>
            <a:r>
              <a:rPr lang="en-US" altLang="zh-CN" sz="2000" b="0" dirty="0">
                <a:solidFill>
                  <a:srgbClr val="444444"/>
                </a:solidFill>
                <a:latin typeface="Sweetie" panose="020B0606030804020204" charset="0"/>
              </a:rPr>
              <a:t>5 </a:t>
            </a:r>
            <a:r>
              <a:rPr lang="zh-CN" altLang="en-US" sz="2000" b="0" dirty="0">
                <a:solidFill>
                  <a:srgbClr val="444444"/>
                </a:solidFill>
                <a:latin typeface="Sweetie" panose="020B0606030804020204" charset="0"/>
              </a:rPr>
              <a:t>的阶乘为例：</a:t>
            </a:r>
            <a:endParaRPr lang="zh-CN" altLang="en-US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5544" name="矩形 3"/>
          <p:cNvSpPr/>
          <p:nvPr/>
        </p:nvSpPr>
        <p:spPr>
          <a:xfrm>
            <a:off x="2281238" y="6583363"/>
            <a:ext cx="4271962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1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https://c.biancheng.net/view/4lv4w1t.html</a:t>
            </a:r>
            <a:endParaRPr lang="zh-CN" altLang="en-US" sz="18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586" name="灯片编号占位符 3"/>
          <p:cNvSpPr txBox="1">
            <a:spLocks noGrp="1"/>
          </p:cNvSpPr>
          <p:nvPr>
            <p:ph type="sldNum" sz="quarter" idx="4"/>
          </p:nvPr>
        </p:nvSpPr>
        <p:spPr>
          <a:xfrm>
            <a:off x="8624888" y="6545263"/>
            <a:ext cx="519112" cy="320675"/>
          </a:xfrm>
        </p:spPr>
        <p:txBody>
          <a:bodyPr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 dirty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  <a:cs typeface="楷体_GB2312"/>
              </a:rPr>
            </a:fld>
            <a:endParaRPr lang="en-US" altLang="zh-CN" sz="1600" b="0" dirty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  <a:cs typeface="楷体_GB2312"/>
            </a:endParaRPr>
          </a:p>
        </p:txBody>
      </p:sp>
      <p:sp>
        <p:nvSpPr>
          <p:cNvPr id="67587" name="标题 1"/>
          <p:cNvSpPr txBox="1"/>
          <p:nvPr/>
        </p:nvSpPr>
        <p:spPr>
          <a:xfrm>
            <a:off x="1066800" y="457200"/>
            <a:ext cx="7391400" cy="4873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第</a:t>
            </a:r>
            <a:r>
              <a:rPr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11</a:t>
            </a: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章 抽象数据类型</a:t>
            </a:r>
            <a:endParaRPr lang="zh-CN" altLang="en-US" sz="36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7588" name="矩形 7"/>
          <p:cNvSpPr/>
          <p:nvPr/>
        </p:nvSpPr>
        <p:spPr>
          <a:xfrm>
            <a:off x="558800" y="1219200"/>
            <a:ext cx="7924800" cy="16891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342900" lvl="0" indent="-342900" algn="just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结构体</a:t>
            </a:r>
            <a:endParaRPr lang="en-US" altLang="zh-CN" sz="2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联合体</a:t>
            </a:r>
            <a:endParaRPr lang="en-US" altLang="zh-CN" sz="2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抽象数据类型</a:t>
            </a:r>
            <a:endParaRPr lang="en-US" altLang="zh-CN" sz="2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3200400"/>
            <a:ext cx="4800600" cy="180975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Toots Regular" panose="02010600010101010101" charset="-12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struct 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DateType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Toots Regular" panose="02010600010101010101" charset="-12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{	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Toots Regular" panose="02010600010101010101" charset="-12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    int    month; 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990000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Toots Regular" panose="02010600010101010101" charset="-12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    int    day;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990000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Toots Regular" panose="02010600010101010101" charset="-12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    int    year; 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990000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Toots Regular" panose="02010600010101010101" charset="-12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};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743200" y="3182620"/>
            <a:ext cx="3124200" cy="1938338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buSzTx/>
              <a:buFont typeface="Toots Regular" panose="02010600010101010101" charset="-12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union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WeightType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buSzTx/>
              <a:buFont typeface="Toots Regular" panose="02010600010101010101" charset="-12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{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buSzTx/>
              <a:buFont typeface="Toots Regular" panose="02010600010101010101" charset="-12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    long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wtInOunces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; 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buSzTx/>
              <a:buFont typeface="Toots Regular" panose="02010600010101010101" charset="-12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    int 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wtInPounds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;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buSzTx/>
              <a:buFont typeface="Toots Regular" panose="02010600010101010101" charset="-12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    float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wtInTons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;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buSzTx/>
              <a:buFont typeface="Toots Regular" panose="02010600010101010101" charset="-12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 };         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867400" y="3200400"/>
            <a:ext cx="2667000" cy="203200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Toots Regular" panose="02010600010101010101" charset="-12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Class  Shape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Toots Regular" panose="02010600010101010101" charset="-12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{	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Toots Regular" panose="02010600010101010101" charset="-12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	private: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Toots Regular" panose="02010600010101010101" charset="-12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	……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Toots Regular" panose="02010600010101010101" charset="-12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	public: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Toots Regular" panose="02010600010101010101" charset="-12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	……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Toots Regular" panose="02010600010101010101" charset="-12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};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634" name="灯片编号占位符 3"/>
          <p:cNvSpPr txBox="1">
            <a:spLocks noGrp="1"/>
          </p:cNvSpPr>
          <p:nvPr>
            <p:ph type="sldNum" sz="quarter" idx="4"/>
          </p:nvPr>
        </p:nvSpPr>
        <p:spPr>
          <a:xfrm>
            <a:off x="8624888" y="6545263"/>
            <a:ext cx="519112" cy="320675"/>
          </a:xfrm>
        </p:spPr>
        <p:txBody>
          <a:bodyPr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 dirty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  <a:cs typeface="楷体_GB2312"/>
              </a:rPr>
            </a:fld>
            <a:endParaRPr lang="en-US" altLang="zh-CN" sz="1600" b="0" dirty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  <a:cs typeface="楷体_GB2312"/>
            </a:endParaRPr>
          </a:p>
        </p:txBody>
      </p:sp>
      <p:sp>
        <p:nvSpPr>
          <p:cNvPr id="69635" name="标题 1"/>
          <p:cNvSpPr txBox="1"/>
          <p:nvPr/>
        </p:nvSpPr>
        <p:spPr>
          <a:xfrm>
            <a:off x="1066800" y="457200"/>
            <a:ext cx="7391400" cy="4873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第</a:t>
            </a:r>
            <a:r>
              <a:rPr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12</a:t>
            </a: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章 类和对象</a:t>
            </a:r>
            <a:endParaRPr lang="zh-CN" altLang="en-US" sz="36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9636" name="矩形 7"/>
          <p:cNvSpPr/>
          <p:nvPr/>
        </p:nvSpPr>
        <p:spPr>
          <a:xfrm>
            <a:off x="558800" y="1143000"/>
            <a:ext cx="7924800" cy="40068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342900" lvl="0" indent="-342900" algn="just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类的定义</a:t>
            </a:r>
            <a:endParaRPr lang="en-US" altLang="zh-CN" sz="2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类的成员：</a:t>
            </a:r>
            <a:endParaRPr lang="en-US" altLang="zh-CN" sz="2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1257300" lvl="2" indent="-342900" algn="just">
              <a:lnSpc>
                <a:spcPct val="150000"/>
              </a:lnSpc>
              <a:spcBef>
                <a:spcPct val="0"/>
              </a:spcBef>
              <a:buClrTx/>
              <a:buChar char="•"/>
            </a:pP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成员变量（一般为私有）</a:t>
            </a: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1257300" lvl="2" indent="-342900" algn="just">
              <a:lnSpc>
                <a:spcPct val="150000"/>
              </a:lnSpc>
              <a:spcBef>
                <a:spcPct val="0"/>
              </a:spcBef>
              <a:buClrTx/>
              <a:buChar char="•"/>
            </a:pP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成员函数（一般设为公有）</a:t>
            </a: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访问控制：</a:t>
            </a:r>
            <a:endParaRPr lang="en-US" altLang="zh-CN" sz="2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1257300" lvl="2" indent="-342900" algn="just">
              <a:lnSpc>
                <a:spcPct val="150000"/>
              </a:lnSpc>
              <a:spcBef>
                <a:spcPct val="0"/>
              </a:spcBef>
              <a:buClrTx/>
            </a:pP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public</a:t>
            </a: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1257300" lvl="2" indent="-342900" algn="just">
              <a:lnSpc>
                <a:spcPct val="150000"/>
              </a:lnSpc>
              <a:spcBef>
                <a:spcPct val="0"/>
              </a:spcBef>
              <a:buClrTx/>
            </a:pP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private</a:t>
            </a: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1257300" lvl="2" indent="-342900" algn="just">
              <a:lnSpc>
                <a:spcPct val="150000"/>
              </a:lnSpc>
              <a:spcBef>
                <a:spcPct val="0"/>
              </a:spcBef>
              <a:buClrTx/>
            </a:pP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protected</a:t>
            </a: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" name="Rectangle 3"/>
          <p:cNvSpPr/>
          <p:nvPr/>
        </p:nvSpPr>
        <p:spPr>
          <a:xfrm>
            <a:off x="5105400" y="1371600"/>
            <a:ext cx="3571875" cy="26543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buSzTx/>
              <a:buFont typeface="Toots Regular" panose="02010600010101010101" charset="-122"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class Time	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buSzTx/>
              <a:buFont typeface="Toots Regular" panose="02010600010101010101" charset="-122"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{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 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buSzTx/>
              <a:buFont typeface="Toots Regular" panose="02010600010101010101" charset="-122"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	public: // function members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Toots Regular" panose="02010600010101010101" charset="-122"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              .  .  .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buSzTx/>
              <a:buFont typeface="Toots Regular" panose="02010600010101010101" charset="-122"/>
              <a:buNone/>
              <a:defRPr/>
            </a:pP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buSzTx/>
              <a:buFont typeface="Toots Regular" panose="02010600010101010101" charset="-122"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	private: // data members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buSzTx/>
              <a:buFont typeface="Toots Regular" panose="02010600010101010101" charset="-122"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         .  .  .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33CC"/>
              </a:buClr>
              <a:buSzTx/>
              <a:buFont typeface="Toots Regular" panose="02010600010101010101" charset="-122"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};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楷体_GB2312"/>
            </a:endParaRPr>
          </a:p>
        </p:txBody>
      </p:sp>
    </p:spTree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82" name="灯片编号占位符 3"/>
          <p:cNvSpPr txBox="1">
            <a:spLocks noGrp="1"/>
          </p:cNvSpPr>
          <p:nvPr>
            <p:ph type="sldNum" sz="quarter" idx="4"/>
          </p:nvPr>
        </p:nvSpPr>
        <p:spPr>
          <a:xfrm>
            <a:off x="8624888" y="6545263"/>
            <a:ext cx="519112" cy="320675"/>
          </a:xfrm>
        </p:spPr>
        <p:txBody>
          <a:bodyPr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 dirty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  <a:cs typeface="楷体_GB2312"/>
              </a:rPr>
            </a:fld>
            <a:endParaRPr lang="en-US" altLang="zh-CN" sz="1600" b="0" dirty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  <a:cs typeface="楷体_GB2312"/>
            </a:endParaRPr>
          </a:p>
        </p:txBody>
      </p:sp>
      <p:sp>
        <p:nvSpPr>
          <p:cNvPr id="71683" name="标题 1"/>
          <p:cNvSpPr txBox="1"/>
          <p:nvPr/>
        </p:nvSpPr>
        <p:spPr>
          <a:xfrm>
            <a:off x="1066800" y="457200"/>
            <a:ext cx="7391400" cy="4873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第</a:t>
            </a:r>
            <a:r>
              <a:rPr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13</a:t>
            </a: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章 面向对象</a:t>
            </a:r>
            <a:endParaRPr lang="zh-CN" altLang="en-US" sz="36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684" name="矩形 7"/>
          <p:cNvSpPr/>
          <p:nvPr/>
        </p:nvSpPr>
        <p:spPr>
          <a:xfrm>
            <a:off x="558800" y="1143000"/>
            <a:ext cx="7924800" cy="27955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342900" lvl="0" indent="-342900" algn="just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基类和派生类</a:t>
            </a:r>
            <a:endParaRPr lang="en-US" altLang="zh-CN" sz="2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endParaRPr lang="en-US" altLang="zh-CN" sz="2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endParaRPr lang="en-US" altLang="zh-CN" sz="2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endParaRPr lang="en-US" altLang="zh-CN" sz="2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访问控制权限</a:t>
            </a:r>
            <a:endParaRPr lang="en-US" altLang="zh-CN" sz="2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685" name="矩形 4"/>
          <p:cNvSpPr/>
          <p:nvPr/>
        </p:nvSpPr>
        <p:spPr>
          <a:xfrm>
            <a:off x="990600" y="2555875"/>
            <a:ext cx="7162800" cy="441325"/>
          </a:xfrm>
          <a:prstGeom prst="rect">
            <a:avLst/>
          </a:prstGeom>
          <a:solidFill>
            <a:srgbClr val="00B0F0">
              <a:alpha val="10196"/>
            </a:srgbClr>
          </a:solidFill>
          <a:ln w="19050">
            <a:noFill/>
          </a:ln>
        </p:spPr>
        <p:txBody>
          <a:bodyPr tIns="36000" rIns="0" bIns="360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FontTx/>
              <a:buNone/>
            </a:pPr>
            <a:r>
              <a:rPr lang="en-US" altLang="zh-CN" sz="2400" b="0" dirty="0">
                <a:solidFill>
                  <a:srgbClr val="0070C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class</a:t>
            </a:r>
            <a:r>
              <a:rPr lang="en-US" altLang="zh-CN" sz="2400" b="0" dirty="0">
                <a:solidFill>
                  <a:schemeClr val="tx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en-US" altLang="zh-CN" sz="2400" b="0" dirty="0">
                <a:solidFill>
                  <a:srgbClr val="00B05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Circle</a:t>
            </a:r>
            <a:r>
              <a:rPr lang="en-US" altLang="zh-CN" sz="2400" b="0" dirty="0">
                <a:solidFill>
                  <a:schemeClr val="tx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: </a:t>
            </a:r>
            <a:r>
              <a:rPr lang="en-US" altLang="zh-CN" sz="2400" b="0" dirty="0">
                <a:solidFill>
                  <a:srgbClr val="FF3399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public</a:t>
            </a:r>
            <a:r>
              <a:rPr lang="en-US" altLang="zh-CN" sz="2400" b="0" dirty="0">
                <a:solidFill>
                  <a:schemeClr val="tx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en-US" altLang="zh-CN" sz="2400" b="0" i="1" dirty="0">
                <a:solidFill>
                  <a:srgbClr val="00B05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GeometricObject</a:t>
            </a:r>
            <a:endParaRPr lang="en-US" altLang="zh-CN" sz="2000" b="0" i="1" dirty="0">
              <a:solidFill>
                <a:srgbClr val="00B050"/>
              </a:solidFill>
              <a:latin typeface="Consolas" panose="020B0609020204030204" pitchFamily="49" charset="0"/>
              <a:ea typeface="Arial" panose="020B0604020202020204" pitchFamily="34" charset="0"/>
            </a:endParaRPr>
          </a:p>
        </p:txBody>
      </p:sp>
      <p:sp>
        <p:nvSpPr>
          <p:cNvPr id="71686" name="矩形 5"/>
          <p:cNvSpPr/>
          <p:nvPr/>
        </p:nvSpPr>
        <p:spPr>
          <a:xfrm>
            <a:off x="6054725" y="1676400"/>
            <a:ext cx="1549400" cy="4302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2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Base class</a:t>
            </a:r>
            <a:endParaRPr lang="zh-CN" altLang="en-US" sz="2200" b="0" dirty="0">
              <a:solidFill>
                <a:schemeClr val="tx1"/>
              </a:solidFill>
              <a:latin typeface="Times New Roman" panose="02020603050405020304" pitchFamily="18" charset="0"/>
              <a:ea typeface="Arial" panose="020B0604020202020204" pitchFamily="34" charset="0"/>
            </a:endParaRPr>
          </a:p>
        </p:txBody>
      </p:sp>
      <p:sp>
        <p:nvSpPr>
          <p:cNvPr id="71687" name="矩形 6"/>
          <p:cNvSpPr/>
          <p:nvPr/>
        </p:nvSpPr>
        <p:spPr>
          <a:xfrm>
            <a:off x="1571625" y="1728788"/>
            <a:ext cx="1879600" cy="4302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2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Derived class</a:t>
            </a:r>
            <a:endParaRPr lang="zh-CN" altLang="en-US" sz="2200" b="0" dirty="0">
              <a:solidFill>
                <a:schemeClr val="tx1"/>
              </a:solidFill>
              <a:latin typeface="Times New Roman" panose="02020603050405020304" pitchFamily="18" charset="0"/>
              <a:ea typeface="Arial" panose="020B0604020202020204" pitchFamily="34" charset="0"/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>
            <a:off x="2738438" y="2235200"/>
            <a:ext cx="350838" cy="39052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 flipH="1">
            <a:off x="6405563" y="2159000"/>
            <a:ext cx="376238" cy="47466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1690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4052888"/>
            <a:ext cx="6886575" cy="23812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3730" name="灯片编号占位符 3"/>
          <p:cNvSpPr txBox="1">
            <a:spLocks noGrp="1"/>
          </p:cNvSpPr>
          <p:nvPr>
            <p:ph type="sldNum" sz="quarter" idx="4"/>
          </p:nvPr>
        </p:nvSpPr>
        <p:spPr>
          <a:xfrm>
            <a:off x="8624888" y="6545263"/>
            <a:ext cx="519112" cy="320675"/>
          </a:xfrm>
        </p:spPr>
        <p:txBody>
          <a:bodyPr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 dirty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  <a:cs typeface="楷体_GB2312"/>
              </a:rPr>
            </a:fld>
            <a:endParaRPr lang="en-US" altLang="zh-CN" sz="1600" b="0" dirty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  <a:cs typeface="楷体_GB2312"/>
            </a:endParaRPr>
          </a:p>
        </p:txBody>
      </p:sp>
      <p:sp>
        <p:nvSpPr>
          <p:cNvPr id="73731" name="标题 1"/>
          <p:cNvSpPr txBox="1"/>
          <p:nvPr/>
        </p:nvSpPr>
        <p:spPr>
          <a:xfrm>
            <a:off x="1066800" y="457200"/>
            <a:ext cx="7391400" cy="4873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第</a:t>
            </a:r>
            <a:r>
              <a:rPr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13</a:t>
            </a: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章 面向对象</a:t>
            </a:r>
            <a:endParaRPr lang="zh-CN" altLang="en-US" sz="36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3732" name="矩形 7"/>
          <p:cNvSpPr/>
          <p:nvPr/>
        </p:nvSpPr>
        <p:spPr>
          <a:xfrm>
            <a:off x="558800" y="1143000"/>
            <a:ext cx="7924800" cy="27955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342900" lvl="0" indent="-342900" algn="just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构造函数和析构函数</a:t>
            </a:r>
            <a:endParaRPr lang="en-US" altLang="zh-CN" sz="2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endParaRPr lang="en-US" altLang="zh-CN" sz="2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endParaRPr lang="en-US" altLang="zh-CN" sz="2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endParaRPr lang="en-US" altLang="zh-CN" sz="2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调用顺序</a:t>
            </a:r>
            <a:endParaRPr lang="en-US" altLang="zh-CN" sz="2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567363" y="1219200"/>
            <a:ext cx="3135313" cy="191928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tIns="36000" rIns="0" bIns="3600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ea typeface="楷体_GB2312" pitchFamily="49" charset="-122"/>
                <a:cs typeface="+mn-cs"/>
              </a:rPr>
              <a:t>class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楷体_GB2312" pitchFamily="49" charset="-122"/>
                <a:cs typeface="+mn-cs"/>
              </a:rPr>
              <a:t>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 panose="020B0609020204030204" pitchFamily="49" charset="0"/>
                <a:ea typeface="楷体_GB2312" pitchFamily="49" charset="-122"/>
                <a:cs typeface="+mn-cs"/>
              </a:rPr>
              <a:t>B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楷体_GB2312" pitchFamily="49" charset="-122"/>
                <a:cs typeface="+mn-cs"/>
              </a:rPr>
              <a:t>{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pitchFamily="49" charset="0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3399"/>
                </a:solidFill>
                <a:effectLst/>
                <a:uLnTx/>
                <a:uFillTx/>
                <a:latin typeface="Consolas" panose="020B0609020204030204" pitchFamily="49" charset="0"/>
                <a:ea typeface="楷体_GB2312" pitchFamily="49" charset="-122"/>
                <a:cs typeface="+mn-cs"/>
              </a:rPr>
              <a:t>public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楷体_GB2312" pitchFamily="49" charset="-122"/>
                <a:cs typeface="+mn-cs"/>
              </a:rPr>
              <a:t>: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pitchFamily="49" charset="0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楷体_GB2312" pitchFamily="49" charset="-122"/>
                <a:cs typeface="+mn-cs"/>
              </a:rPr>
              <a:t>   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 panose="020B0609020204030204" pitchFamily="49" charset="0"/>
                <a:ea typeface="楷体_GB2312" pitchFamily="49" charset="-122"/>
                <a:cs typeface="+mn-cs"/>
              </a:rPr>
              <a:t>B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楷体_GB2312" pitchFamily="49" charset="-122"/>
                <a:cs typeface="+mn-cs"/>
              </a:rPr>
              <a:t>();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pitchFamily="49" charset="0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楷体_GB2312" pitchFamily="49" charset="-122"/>
                <a:cs typeface="+mn-cs"/>
              </a:rPr>
              <a:t>   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 panose="020B0609020204030204" pitchFamily="49" charset="0"/>
                <a:ea typeface="楷体_GB2312" pitchFamily="49" charset="-122"/>
                <a:cs typeface="+mn-cs"/>
              </a:rPr>
              <a:t>B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楷体_GB2312" pitchFamily="49" charset="-122"/>
                <a:cs typeface="+mn-cs"/>
              </a:rPr>
              <a:t>(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ea typeface="楷体_GB2312" pitchFamily="49" charset="-122"/>
                <a:cs typeface="+mn-cs"/>
              </a:rPr>
              <a:t>double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楷体_GB2312" pitchFamily="49" charset="-122"/>
                <a:cs typeface="+mn-cs"/>
              </a:rPr>
              <a:t> r);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pitchFamily="49" charset="0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楷体_GB2312" pitchFamily="49" charset="-122"/>
                <a:cs typeface="+mn-cs"/>
              </a:rPr>
              <a:t>   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 panose="020B0609020204030204" pitchFamily="49" charset="0"/>
                <a:ea typeface="楷体_GB2312" pitchFamily="49" charset="-122"/>
                <a:cs typeface="+mn-cs"/>
              </a:rPr>
              <a:t>~B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楷体_GB2312" pitchFamily="49" charset="-122"/>
                <a:cs typeface="+mn-cs"/>
              </a:rPr>
              <a:t>();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pitchFamily="49" charset="0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楷体_GB2312" pitchFamily="49" charset="-122"/>
                <a:cs typeface="+mn-cs"/>
              </a:rPr>
              <a:t>    …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pitchFamily="49" charset="0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楷体_GB2312" pitchFamily="49" charset="-122"/>
                <a:cs typeface="+mn-cs"/>
              </a:rPr>
              <a:t>}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pitchFamily="49" charset="0"/>
              <a:ea typeface="楷体_GB2312" pitchFamily="49" charset="-122"/>
              <a:cs typeface="+mn-cs"/>
            </a:endParaRPr>
          </a:p>
        </p:txBody>
      </p:sp>
      <p:pic>
        <p:nvPicPr>
          <p:cNvPr id="73734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8400" y="3235325"/>
            <a:ext cx="6019800" cy="36226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5778" name="灯片编号占位符 3"/>
          <p:cNvSpPr txBox="1">
            <a:spLocks noGrp="1"/>
          </p:cNvSpPr>
          <p:nvPr>
            <p:ph type="sldNum" sz="quarter" idx="4"/>
          </p:nvPr>
        </p:nvSpPr>
        <p:spPr>
          <a:xfrm>
            <a:off x="8624888" y="6545263"/>
            <a:ext cx="519112" cy="320675"/>
          </a:xfrm>
        </p:spPr>
        <p:txBody>
          <a:bodyPr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 dirty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  <a:cs typeface="楷体_GB2312"/>
              </a:rPr>
            </a:fld>
            <a:endParaRPr lang="en-US" altLang="zh-CN" sz="1600" b="0" dirty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  <a:cs typeface="楷体_GB2312"/>
            </a:endParaRPr>
          </a:p>
        </p:txBody>
      </p:sp>
      <p:sp>
        <p:nvSpPr>
          <p:cNvPr id="75779" name="标题 1"/>
          <p:cNvSpPr txBox="1"/>
          <p:nvPr/>
        </p:nvSpPr>
        <p:spPr>
          <a:xfrm>
            <a:off x="1066800" y="457200"/>
            <a:ext cx="7391400" cy="4873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第</a:t>
            </a:r>
            <a:r>
              <a:rPr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13</a:t>
            </a: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章 面向对象</a:t>
            </a:r>
            <a:endParaRPr lang="zh-CN" altLang="en-US" sz="36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780" name="矩形 7"/>
          <p:cNvSpPr/>
          <p:nvPr/>
        </p:nvSpPr>
        <p:spPr>
          <a:xfrm>
            <a:off x="558800" y="1143000"/>
            <a:ext cx="7924800" cy="27955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342900" lvl="0" indent="-342900" algn="just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虚函数</a:t>
            </a:r>
            <a:endParaRPr lang="en-US" altLang="zh-CN" sz="2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声明方式：</a:t>
            </a:r>
            <a:r>
              <a:rPr lang="en-US" altLang="zh-CN" sz="2400" b="0" dirty="0">
                <a:solidFill>
                  <a:srgbClr val="191B1F"/>
                </a:solidFill>
                <a:latin typeface="Arial Unicode MS"/>
              </a:rPr>
              <a:t>virtual void func() { /* </a:t>
            </a:r>
            <a:r>
              <a:rPr lang="zh-CN" altLang="en-US" sz="2400" b="0" dirty="0">
                <a:solidFill>
                  <a:srgbClr val="191B1F"/>
                </a:solidFill>
                <a:latin typeface="Arial Unicode MS"/>
              </a:rPr>
              <a:t>实现 *</a:t>
            </a:r>
            <a:r>
              <a:rPr lang="en-US" altLang="zh-CN" sz="2400" b="0" dirty="0">
                <a:solidFill>
                  <a:srgbClr val="191B1F"/>
                </a:solidFill>
                <a:latin typeface="Arial Unicode MS"/>
              </a:rPr>
              <a:t>/ }</a:t>
            </a:r>
            <a:endParaRPr lang="en-US" altLang="zh-CN" sz="200" b="0" dirty="0">
              <a:solidFill>
                <a:srgbClr val="191B1F"/>
              </a:solidFill>
              <a:latin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实例化：含有虚函数的基类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可以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被实例化</a:t>
            </a:r>
            <a:endParaRPr lang="en-US" altLang="zh-CN" sz="2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zh-CN" altLang="en-US" sz="2400" b="0" dirty="0">
                <a:solidFill>
                  <a:srgbClr val="191B1F"/>
                </a:solidFill>
                <a:latin typeface="Times New Roman" panose="02020603050405020304" pitchFamily="18" charset="0"/>
              </a:rPr>
              <a:t>实现状态：在基类中有默认实现</a:t>
            </a:r>
            <a:endParaRPr lang="en-US" altLang="zh-CN" sz="2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endParaRPr lang="en-US" altLang="zh-CN" sz="2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7826" name="灯片编号占位符 3"/>
          <p:cNvSpPr txBox="1">
            <a:spLocks noGrp="1"/>
          </p:cNvSpPr>
          <p:nvPr>
            <p:ph type="sldNum" sz="quarter" idx="4"/>
          </p:nvPr>
        </p:nvSpPr>
        <p:spPr>
          <a:xfrm>
            <a:off x="8624888" y="6545263"/>
            <a:ext cx="519112" cy="320675"/>
          </a:xfrm>
        </p:spPr>
        <p:txBody>
          <a:bodyPr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 dirty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  <a:cs typeface="楷体_GB2312"/>
              </a:rPr>
            </a:fld>
            <a:endParaRPr lang="en-US" altLang="zh-CN" sz="1600" b="0" dirty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  <a:cs typeface="楷体_GB2312"/>
            </a:endParaRPr>
          </a:p>
        </p:txBody>
      </p:sp>
      <p:sp>
        <p:nvSpPr>
          <p:cNvPr id="77827" name="标题 1"/>
          <p:cNvSpPr txBox="1"/>
          <p:nvPr/>
        </p:nvSpPr>
        <p:spPr>
          <a:xfrm>
            <a:off x="1066800" y="457200"/>
            <a:ext cx="7391400" cy="4873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第</a:t>
            </a:r>
            <a:r>
              <a:rPr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13</a:t>
            </a: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章 面向对象</a:t>
            </a:r>
            <a:endParaRPr lang="zh-CN" altLang="en-US" sz="36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7828" name="矩形 7"/>
          <p:cNvSpPr/>
          <p:nvPr/>
        </p:nvSpPr>
        <p:spPr>
          <a:xfrm>
            <a:off x="558800" y="1143000"/>
            <a:ext cx="7924800" cy="581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342900" lvl="0" indent="-342900" algn="just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虚函数举例</a:t>
            </a:r>
            <a:endParaRPr lang="en-US" altLang="zh-CN" sz="2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77829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2600" y="1695450"/>
            <a:ext cx="6172200" cy="47577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7830" name="矩形 5"/>
          <p:cNvSpPr/>
          <p:nvPr/>
        </p:nvSpPr>
        <p:spPr>
          <a:xfrm>
            <a:off x="1727200" y="6453188"/>
            <a:ext cx="7177088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1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https://www.runoob.com/w3cnote/cpp-virtual-functions.html</a:t>
            </a:r>
            <a:endParaRPr lang="zh-CN" altLang="en-US" sz="18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9874" name="灯片编号占位符 3"/>
          <p:cNvSpPr txBox="1">
            <a:spLocks noGrp="1"/>
          </p:cNvSpPr>
          <p:nvPr>
            <p:ph type="sldNum" sz="quarter" idx="4"/>
          </p:nvPr>
        </p:nvSpPr>
        <p:spPr>
          <a:xfrm>
            <a:off x="8624888" y="6545263"/>
            <a:ext cx="519112" cy="320675"/>
          </a:xfrm>
        </p:spPr>
        <p:txBody>
          <a:bodyPr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 dirty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  <a:cs typeface="楷体_GB2312"/>
              </a:rPr>
            </a:fld>
            <a:endParaRPr lang="en-US" altLang="zh-CN" sz="1600" b="0" dirty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  <a:cs typeface="楷体_GB2312"/>
            </a:endParaRPr>
          </a:p>
        </p:txBody>
      </p:sp>
      <p:sp>
        <p:nvSpPr>
          <p:cNvPr id="79875" name="标题 1"/>
          <p:cNvSpPr txBox="1"/>
          <p:nvPr/>
        </p:nvSpPr>
        <p:spPr>
          <a:xfrm>
            <a:off x="1066800" y="457200"/>
            <a:ext cx="7391400" cy="4873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第</a:t>
            </a:r>
            <a:r>
              <a:rPr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13</a:t>
            </a: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章 面向对象</a:t>
            </a:r>
            <a:endParaRPr lang="zh-CN" altLang="en-US" sz="36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58800" y="1143000"/>
            <a:ext cx="7924800" cy="1133475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marR="0" lvl="0" indent="-342900" algn="just" defTabSz="914400" rtl="0" eaLnBrk="0" fontAlgn="auto" latinLnBrk="0" hangingPunct="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抽象类和纯虚函数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0" indent="0" algn="just" defTabSz="914400" rtl="0" eaLnBrk="0" fontAlgn="auto" latinLnBrk="0" hangingPunct="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pic>
        <p:nvPicPr>
          <p:cNvPr id="79877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963" y="1981200"/>
            <a:ext cx="7908925" cy="12620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9878" name="矩形 3"/>
          <p:cNvSpPr/>
          <p:nvPr/>
        </p:nvSpPr>
        <p:spPr>
          <a:xfrm>
            <a:off x="381000" y="3614738"/>
            <a:ext cx="8458200" cy="2308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Arial" panose="020B0604020202020204" pitchFamily="34" charset="0"/>
              </a:rPr>
              <a:t>纯虚函数的特点</a:t>
            </a:r>
            <a:endParaRPr lang="zh-CN" altLang="en-US" sz="24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lvl="0" indent="0">
              <a:spcBef>
                <a:spcPct val="0"/>
              </a:spcBef>
              <a:buClrTx/>
              <a:buFont typeface="Times New Roman" panose="02020603050405020304" pitchFamily="18" charset="0"/>
              <a:buAutoNum type="arabicPeriod"/>
            </a:pPr>
            <a:r>
              <a:rPr lang="zh-CN" altLang="en-US" sz="2400" dirty="0">
                <a:solidFill>
                  <a:srgbClr val="444444"/>
                </a:solidFill>
                <a:latin typeface="Arial" panose="020B0604020202020204" pitchFamily="34" charset="0"/>
              </a:rPr>
              <a:t>抽象类</a:t>
            </a:r>
            <a:r>
              <a:rPr lang="zh-CN" altLang="en-US" sz="2400" b="0" dirty="0">
                <a:solidFill>
                  <a:srgbClr val="444444"/>
                </a:solidFill>
                <a:latin typeface="Arial" panose="020B0604020202020204" pitchFamily="34" charset="0"/>
              </a:rPr>
              <a:t>：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包含纯虚函数的类称为抽象类，抽象类不能被实例化，只能作为基类使用。</a:t>
            </a:r>
            <a:endParaRPr lang="zh-CN" altLang="en-US" sz="2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 typeface="Times New Roman" panose="02020603050405020304" pitchFamily="18" charset="0"/>
              <a:buAutoNum type="arabicPeriod"/>
            </a:pPr>
            <a:r>
              <a:rPr lang="zh-CN" altLang="en-US" sz="2400" dirty="0">
                <a:solidFill>
                  <a:srgbClr val="444444"/>
                </a:solidFill>
                <a:latin typeface="Arial" panose="020B0604020202020204" pitchFamily="34" charset="0"/>
              </a:rPr>
              <a:t>派生类实现</a:t>
            </a:r>
            <a:r>
              <a:rPr lang="zh-CN" altLang="en-US" sz="2400" b="0" dirty="0">
                <a:solidFill>
                  <a:srgbClr val="444444"/>
                </a:solidFill>
                <a:latin typeface="Arial" panose="020B0604020202020204" pitchFamily="34" charset="0"/>
              </a:rPr>
              <a:t>：派生类必须实现基类中的纯虚函数，否则派生类也会成为抽象类，无法实例化。</a:t>
            </a:r>
            <a:endParaRPr lang="zh-CN" altLang="en-US" sz="2400" b="0" dirty="0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marL="0" lvl="0" indent="0">
              <a:spcBef>
                <a:spcPct val="0"/>
              </a:spcBef>
              <a:buClrTx/>
              <a:buFont typeface="Times New Roman" panose="02020603050405020304" pitchFamily="18" charset="0"/>
              <a:buAutoNum type="arabicPeriod"/>
            </a:pPr>
            <a:r>
              <a:rPr lang="zh-CN" altLang="en-US" sz="2400" dirty="0">
                <a:solidFill>
                  <a:srgbClr val="444444"/>
                </a:solidFill>
                <a:latin typeface="Arial" panose="020B0604020202020204" pitchFamily="34" charset="0"/>
              </a:rPr>
              <a:t>接口作用</a:t>
            </a:r>
            <a:r>
              <a:rPr lang="zh-CN" altLang="en-US" sz="2400" b="0" dirty="0">
                <a:solidFill>
                  <a:srgbClr val="444444"/>
                </a:solidFill>
                <a:latin typeface="Arial" panose="020B0604020202020204" pitchFamily="34" charset="0"/>
              </a:rPr>
              <a:t>：为派生类提供统一的接口，规范派生类的行为。</a:t>
            </a:r>
            <a:endParaRPr lang="zh-CN" altLang="en-US" sz="2400" b="0" dirty="0">
              <a:solidFill>
                <a:srgbClr val="444444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22" name="灯片编号占位符 3"/>
          <p:cNvSpPr txBox="1">
            <a:spLocks noGrp="1"/>
          </p:cNvSpPr>
          <p:nvPr>
            <p:ph type="sldNum" sz="quarter" idx="4"/>
          </p:nvPr>
        </p:nvSpPr>
        <p:spPr>
          <a:xfrm>
            <a:off x="8624888" y="6545263"/>
            <a:ext cx="519112" cy="320675"/>
          </a:xfrm>
        </p:spPr>
        <p:txBody>
          <a:bodyPr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 dirty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  <a:cs typeface="楷体_GB2312"/>
              </a:rPr>
            </a:fld>
            <a:endParaRPr lang="en-US" altLang="zh-CN" sz="1600" b="0" dirty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  <a:cs typeface="楷体_GB2312"/>
            </a:endParaRPr>
          </a:p>
        </p:txBody>
      </p:sp>
      <p:sp>
        <p:nvSpPr>
          <p:cNvPr id="81923" name="标题 1"/>
          <p:cNvSpPr txBox="1"/>
          <p:nvPr/>
        </p:nvSpPr>
        <p:spPr>
          <a:xfrm>
            <a:off x="1066800" y="457200"/>
            <a:ext cx="7391400" cy="4873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第</a:t>
            </a:r>
            <a:r>
              <a:rPr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13</a:t>
            </a: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章 面向对象</a:t>
            </a:r>
            <a:endParaRPr lang="zh-CN" altLang="en-US" sz="36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98450" y="1211263"/>
            <a:ext cx="5492750" cy="550862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1B6AC7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#include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 &lt;iostream&gt;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1B6AC7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using namespace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 std;</a:t>
            </a:r>
            <a:b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</a:b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1B6AC7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class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 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CFigure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 {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1B6AC7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public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: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1B6AC7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virtual double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 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getArea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() = 0; 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14692E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//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4692E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纯虚函数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};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b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</a:b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1B6AC7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class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 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CCircle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 : 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1B6AC7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public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 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CFigure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 {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1B6AC7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private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: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1B6AC7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    double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 radius;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1B6AC7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public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: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    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CCircle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(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1B6AC7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double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 r) : radius(r) {}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1B6AC7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    double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 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getArea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( ) 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1B6AC7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override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 {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1B6AC7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return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 3.14 * radius * radius; }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};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b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</a:b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1B6AC7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class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 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CRectangle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 : 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1B6AC7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public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 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CFigure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 {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1B6AC7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private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: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1B6AC7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     double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 height, width;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1B6AC7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public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: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     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CRectangle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(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1B6AC7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double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 h, 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1B6AC7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double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 w) : height(h), width(w) { }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1B6AC7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    double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 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getArea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() 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1B6AC7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override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 {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1B6AC7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return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 height * width; }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};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楷体_GB2312" pitchFamily="49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419600" y="1295400"/>
            <a:ext cx="4572000" cy="2678113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int main() {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CFigure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* figure1 = new 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CRectangle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(4.0, 5.0);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cout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 &lt;&lt; "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矩形面积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: "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 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&lt;&lt; figure1-&gt;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getArea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() &lt;&lt; 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endl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;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delete figure1;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b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</a:b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CFigure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* figure2 = new 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CCircle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(4.0);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cout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 &lt;&lt; "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圆形面积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: "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 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&lt;&lt; figure2-&gt;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getArea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() &lt;&lt; 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endl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;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delete figure2;</a:t>
            </a:r>
            <a:b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</a:b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return 0;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}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81926" name="矩形 4"/>
          <p:cNvSpPr/>
          <p:nvPr/>
        </p:nvSpPr>
        <p:spPr>
          <a:xfrm>
            <a:off x="5073650" y="4800600"/>
            <a:ext cx="3263900" cy="5810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 algn="just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抽象类和纯虚函数举例</a:t>
            </a:r>
            <a:endParaRPr lang="en-US" altLang="zh-CN" sz="2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3970" name="灯片编号占位符 3"/>
          <p:cNvSpPr txBox="1">
            <a:spLocks noGrp="1"/>
          </p:cNvSpPr>
          <p:nvPr>
            <p:ph type="sldNum" sz="quarter" idx="4"/>
          </p:nvPr>
        </p:nvSpPr>
        <p:spPr>
          <a:xfrm>
            <a:off x="8624888" y="6545263"/>
            <a:ext cx="519112" cy="320675"/>
          </a:xfrm>
        </p:spPr>
        <p:txBody>
          <a:bodyPr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 dirty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  <a:cs typeface="楷体_GB2312"/>
              </a:rPr>
            </a:fld>
            <a:endParaRPr lang="en-US" altLang="zh-CN" sz="1600" b="0" dirty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  <a:cs typeface="楷体_GB2312"/>
            </a:endParaRPr>
          </a:p>
        </p:txBody>
      </p:sp>
      <p:sp>
        <p:nvSpPr>
          <p:cNvPr id="83971" name="标题 1"/>
          <p:cNvSpPr txBox="1"/>
          <p:nvPr/>
        </p:nvSpPr>
        <p:spPr>
          <a:xfrm>
            <a:off x="1066800" y="457200"/>
            <a:ext cx="7391400" cy="4873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第</a:t>
            </a:r>
            <a:r>
              <a:rPr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14</a:t>
            </a: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章 文件输入输出</a:t>
            </a:r>
            <a:endParaRPr lang="zh-CN" altLang="en-US" sz="36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28600" y="1295400"/>
            <a:ext cx="8763000" cy="2241550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marR="0" lvl="0" indent="-342900" algn="just" defTabSz="914400" rtl="0" eaLnBrk="0" fontAlgn="auto" latinLnBrk="0" hangingPunct="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头文件：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800100" marR="0" lvl="1" indent="-342900" algn="just" defTabSz="914400" rtl="0" eaLnBrk="0" fontAlgn="auto" latinLnBrk="0" hangingPunct="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 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&lt;iostream&gt; 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800100" marR="0" lvl="1" indent="-342900" algn="just" defTabSz="914400" rtl="0" eaLnBrk="0" fontAlgn="auto" latinLnBrk="0" hangingPunct="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&lt;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fstream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&gt;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0" indent="0" algn="just" defTabSz="914400" rtl="0" eaLnBrk="0" fontAlgn="auto" latinLnBrk="0" hangingPunct="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495300" y="3733800"/>
          <a:ext cx="8229600" cy="2286001"/>
        </p:xfrm>
        <a:graphic>
          <a:graphicData uri="http://schemas.openxmlformats.org/drawingml/2006/table">
            <a:tbl>
              <a:tblPr/>
              <a:tblGrid>
                <a:gridCol w="1447800"/>
                <a:gridCol w="6781800"/>
              </a:tblGrid>
              <a:tr h="344797"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800" dirty="0">
                          <a:solidFill>
                            <a:schemeClr val="tx1"/>
                          </a:solidFill>
                          <a:effectLst/>
                        </a:rPr>
                        <a:t>类型</a:t>
                      </a:r>
                      <a:endParaRPr lang="zh-CN" altLang="en-US" sz="18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176" marR="6176" marT="24704" marB="24704" anchor="ctr">
                    <a:lnL w="317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800" dirty="0">
                          <a:solidFill>
                            <a:schemeClr val="tx1"/>
                          </a:solidFill>
                          <a:effectLst/>
                        </a:rPr>
                        <a:t>功能描述</a:t>
                      </a:r>
                      <a:endParaRPr lang="zh-CN" altLang="en-US" sz="18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176" marR="6176" marT="24704" marB="24704" anchor="ctr">
                    <a:lnL w="317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14713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dirty="0" err="1">
                          <a:effectLst/>
                          <a:latin typeface="+mj-lt"/>
                          <a:ea typeface="黑体" panose="02010609060101010101" pitchFamily="49" charset="-122"/>
                        </a:rPr>
                        <a:t>ofstream</a:t>
                      </a:r>
                      <a:endParaRPr lang="en-US" sz="1800" dirty="0">
                        <a:effectLst/>
                        <a:latin typeface="+mj-lt"/>
                        <a:ea typeface="黑体" panose="02010609060101010101" pitchFamily="49" charset="-122"/>
                      </a:endParaRPr>
                    </a:p>
                  </a:txBody>
                  <a:tcPr marL="15440" marR="15440" marT="21616" marB="21616" anchor="ctr">
                    <a:lnL w="317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800" dirty="0">
                          <a:effectLst/>
                          <a:latin typeface="+mj-lt"/>
                          <a:ea typeface="黑体" panose="02010609060101010101" pitchFamily="49" charset="-122"/>
                        </a:rPr>
                        <a:t>表示输出文件流，用于创建文件并向文件写入信息。</a:t>
                      </a:r>
                      <a:endParaRPr lang="zh-CN" altLang="en-US" sz="1800" dirty="0">
                        <a:effectLst/>
                        <a:latin typeface="+mj-lt"/>
                        <a:ea typeface="黑体" panose="02010609060101010101" pitchFamily="49" charset="-122"/>
                      </a:endParaRPr>
                    </a:p>
                  </a:txBody>
                  <a:tcPr marL="15440" marR="15440" marT="21616" marB="21616" anchor="ctr">
                    <a:lnL w="317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514899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>
                          <a:effectLst/>
                          <a:latin typeface="+mj-lt"/>
                          <a:ea typeface="黑体" panose="02010609060101010101" pitchFamily="49" charset="-122"/>
                        </a:rPr>
                        <a:t>ifstream</a:t>
                      </a:r>
                      <a:endParaRPr lang="en-US" sz="1800">
                        <a:effectLst/>
                        <a:latin typeface="+mj-lt"/>
                        <a:ea typeface="黑体" panose="02010609060101010101" pitchFamily="49" charset="-122"/>
                      </a:endParaRPr>
                    </a:p>
                  </a:txBody>
                  <a:tcPr marL="15440" marR="15440" marT="21616" marB="21616" anchor="ctr">
                    <a:lnL w="317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800" dirty="0">
                          <a:effectLst/>
                          <a:latin typeface="+mj-lt"/>
                          <a:ea typeface="黑体" panose="02010609060101010101" pitchFamily="49" charset="-122"/>
                        </a:rPr>
                        <a:t>表示输入文件流，用于从文件读取信息。</a:t>
                      </a:r>
                      <a:endParaRPr lang="zh-CN" altLang="en-US" sz="1800" dirty="0">
                        <a:effectLst/>
                        <a:latin typeface="+mj-lt"/>
                        <a:ea typeface="黑体" panose="02010609060101010101" pitchFamily="49" charset="-122"/>
                      </a:endParaRPr>
                    </a:p>
                  </a:txBody>
                  <a:tcPr marL="15440" marR="15440" marT="21616" marB="21616" anchor="ctr">
                    <a:lnL w="317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11592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>
                          <a:effectLst/>
                          <a:latin typeface="+mj-lt"/>
                          <a:ea typeface="黑体" panose="02010609060101010101" pitchFamily="49" charset="-122"/>
                        </a:rPr>
                        <a:t>fstream</a:t>
                      </a:r>
                      <a:endParaRPr lang="en-US" sz="1800">
                        <a:effectLst/>
                        <a:latin typeface="+mj-lt"/>
                        <a:ea typeface="黑体" panose="02010609060101010101" pitchFamily="49" charset="-122"/>
                      </a:endParaRPr>
                    </a:p>
                  </a:txBody>
                  <a:tcPr marL="15440" marR="15440" marT="21616" marB="21616" anchor="ctr">
                    <a:lnL w="317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800" dirty="0">
                          <a:effectLst/>
                          <a:latin typeface="+mj-lt"/>
                          <a:ea typeface="黑体" panose="02010609060101010101" pitchFamily="49" charset="-122"/>
                        </a:rPr>
                        <a:t>表示文件流，且同时具有 </a:t>
                      </a:r>
                      <a:r>
                        <a:rPr lang="en-US" altLang="zh-CN" sz="1800" dirty="0" err="1">
                          <a:effectLst/>
                          <a:latin typeface="+mj-lt"/>
                          <a:ea typeface="黑体" panose="02010609060101010101" pitchFamily="49" charset="-122"/>
                        </a:rPr>
                        <a:t>ofstream</a:t>
                      </a:r>
                      <a:r>
                        <a:rPr lang="en-US" altLang="zh-CN" sz="1800" dirty="0">
                          <a:effectLst/>
                          <a:latin typeface="+mj-lt"/>
                          <a:ea typeface="黑体" panose="02010609060101010101" pitchFamily="49" charset="-122"/>
                        </a:rPr>
                        <a:t> </a:t>
                      </a:r>
                      <a:r>
                        <a:rPr lang="zh-CN" altLang="en-US" sz="1800" dirty="0">
                          <a:effectLst/>
                          <a:latin typeface="+mj-lt"/>
                          <a:ea typeface="黑体" panose="02010609060101010101" pitchFamily="49" charset="-122"/>
                        </a:rPr>
                        <a:t>和 </a:t>
                      </a:r>
                      <a:r>
                        <a:rPr lang="en-US" altLang="zh-CN" sz="1800" dirty="0" err="1">
                          <a:effectLst/>
                          <a:latin typeface="+mj-lt"/>
                          <a:ea typeface="黑体" panose="02010609060101010101" pitchFamily="49" charset="-122"/>
                        </a:rPr>
                        <a:t>ifstream</a:t>
                      </a:r>
                      <a:r>
                        <a:rPr lang="en-US" altLang="zh-CN" sz="1800" dirty="0">
                          <a:effectLst/>
                          <a:latin typeface="+mj-lt"/>
                          <a:ea typeface="黑体" panose="02010609060101010101" pitchFamily="49" charset="-122"/>
                        </a:rPr>
                        <a:t> </a:t>
                      </a:r>
                      <a:r>
                        <a:rPr lang="zh-CN" altLang="en-US" sz="1800" dirty="0">
                          <a:effectLst/>
                          <a:latin typeface="+mj-lt"/>
                          <a:ea typeface="黑体" panose="02010609060101010101" pitchFamily="49" charset="-122"/>
                        </a:rPr>
                        <a:t>两种功能，可以创建文件，向文件写入信息，从文件读取信息。</a:t>
                      </a:r>
                      <a:endParaRPr lang="zh-CN" altLang="en-US" sz="1800" dirty="0">
                        <a:effectLst/>
                        <a:latin typeface="+mj-lt"/>
                        <a:ea typeface="黑体" panose="02010609060101010101" pitchFamily="49" charset="-122"/>
                      </a:endParaRPr>
                    </a:p>
                  </a:txBody>
                  <a:tcPr marL="15440" marR="15440" marT="21616" marB="21616" anchor="ctr">
                    <a:lnL w="317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6018" name="灯片编号占位符 3"/>
          <p:cNvSpPr txBox="1">
            <a:spLocks noGrp="1"/>
          </p:cNvSpPr>
          <p:nvPr>
            <p:ph type="sldNum" sz="quarter" idx="4"/>
          </p:nvPr>
        </p:nvSpPr>
        <p:spPr>
          <a:xfrm>
            <a:off x="8624888" y="6545263"/>
            <a:ext cx="519112" cy="320675"/>
          </a:xfrm>
        </p:spPr>
        <p:txBody>
          <a:bodyPr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 dirty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  <a:cs typeface="楷体_GB2312"/>
              </a:rPr>
            </a:fld>
            <a:endParaRPr lang="en-US" altLang="zh-CN" sz="1600" b="0" dirty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  <a:cs typeface="楷体_GB2312"/>
            </a:endParaRPr>
          </a:p>
        </p:txBody>
      </p:sp>
      <p:sp>
        <p:nvSpPr>
          <p:cNvPr id="86019" name="标题 1"/>
          <p:cNvSpPr txBox="1"/>
          <p:nvPr/>
        </p:nvSpPr>
        <p:spPr>
          <a:xfrm>
            <a:off x="1066800" y="457200"/>
            <a:ext cx="7391400" cy="4873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第</a:t>
            </a:r>
            <a:r>
              <a:rPr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14</a:t>
            </a: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章 文件输入输出</a:t>
            </a:r>
            <a:endParaRPr lang="zh-CN" altLang="en-US" sz="36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6020" name="矩形 7"/>
          <p:cNvSpPr/>
          <p:nvPr/>
        </p:nvSpPr>
        <p:spPr>
          <a:xfrm>
            <a:off x="228600" y="1295400"/>
            <a:ext cx="8763000" cy="39052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342900" lvl="0" indent="-342900" algn="just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头文件： </a:t>
            </a: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&lt;iostream&gt; 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&lt;fstream&gt;</a:t>
            </a:r>
            <a:endParaRPr lang="en-US" altLang="zh-CN" sz="2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文件操作（用</a:t>
            </a: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ifstream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读文件）</a:t>
            </a:r>
            <a:endParaRPr lang="en-US" altLang="zh-CN" sz="2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创建文件：</a:t>
            </a: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ifstream inFile;</a:t>
            </a:r>
            <a:endParaRPr lang="en-US" altLang="zh-CN" sz="2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打开文件：</a:t>
            </a: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inFile.open("filename.txt");</a:t>
            </a:r>
            <a:endParaRPr lang="en-US" altLang="zh-CN" sz="2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创建并打开：</a:t>
            </a: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ifstream srcFile("in.txt", ios::in); //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以文本模式</a:t>
            </a:r>
            <a:endParaRPr lang="en-US" altLang="zh-CN" sz="2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关闭文件：</a:t>
            </a: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inFile.close( );</a:t>
            </a:r>
            <a:endParaRPr lang="en-US" altLang="zh-CN" sz="2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读： </a:t>
            </a: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&gt;&gt;, getline, get, read</a:t>
            </a:r>
            <a:endParaRPr lang="en-US" altLang="zh-CN" sz="2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8066" name="灯片编号占位符 3"/>
          <p:cNvSpPr txBox="1">
            <a:spLocks noGrp="1"/>
          </p:cNvSpPr>
          <p:nvPr>
            <p:ph type="sldNum" sz="quarter" idx="4"/>
          </p:nvPr>
        </p:nvSpPr>
        <p:spPr>
          <a:xfrm>
            <a:off x="8624888" y="6545263"/>
            <a:ext cx="519112" cy="320675"/>
          </a:xfrm>
        </p:spPr>
        <p:txBody>
          <a:bodyPr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 dirty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  <a:cs typeface="楷体_GB2312"/>
              </a:rPr>
            </a:fld>
            <a:endParaRPr lang="en-US" altLang="zh-CN" sz="1600" b="0" dirty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  <a:cs typeface="楷体_GB2312"/>
            </a:endParaRPr>
          </a:p>
        </p:txBody>
      </p:sp>
      <p:sp>
        <p:nvSpPr>
          <p:cNvPr id="88067" name="标题 1"/>
          <p:cNvSpPr txBox="1"/>
          <p:nvPr/>
        </p:nvSpPr>
        <p:spPr>
          <a:xfrm>
            <a:off x="1066800" y="457200"/>
            <a:ext cx="7391400" cy="4873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第</a:t>
            </a:r>
            <a:r>
              <a:rPr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14</a:t>
            </a: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章 文件输入输出</a:t>
            </a:r>
            <a:endParaRPr lang="zh-CN" altLang="en-US" sz="36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58800" y="1143000"/>
            <a:ext cx="7924800" cy="2705100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marR="0" lvl="0" indent="-342900" algn="just" defTabSz="914400" rtl="0" eaLnBrk="0" fontAlgn="auto" latinLnBrk="0" hangingPunct="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文件操作（用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fstream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同时读写文件）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800100" marR="0" lvl="1" indent="-342900" algn="just" defTabSz="914400" rtl="0" eaLnBrk="0" fontAlgn="auto" latinLnBrk="0" hangingPunct="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打开文件：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ofstream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outFile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("out.txt",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ios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::out |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ios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::binary);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457200" marR="0" lvl="1" indent="0" algn="just" defTabSz="914400" rtl="0" eaLnBrk="0" fontAlgn="auto" latinLnBrk="0" hangingPunct="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                      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ofstream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destFile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("out.txt",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ios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::out);//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以文本模式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800100" marR="0" lvl="1" indent="-342900" algn="just" defTabSz="914400" rtl="0" eaLnBrk="0" fontAlgn="auto" latinLnBrk="0" hangingPunct="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关闭文件：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destFile.close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 );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800100" marR="0" lvl="1" indent="-342900" algn="just" defTabSz="914400" rtl="0" eaLnBrk="0" fontAlgn="auto" latinLnBrk="0" hangingPunct="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写：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&lt;&lt;, put, write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主题1">
  <a:themeElements>
    <a:clrScheme name="117TGp_report_diagram_v2 1">
      <a:dk1>
        <a:srgbClr val="000000"/>
      </a:dk1>
      <a:lt1>
        <a:srgbClr val="FFFFFF"/>
      </a:lt1>
      <a:dk2>
        <a:srgbClr val="000798"/>
      </a:dk2>
      <a:lt2>
        <a:srgbClr val="B2B2B2"/>
      </a:lt2>
      <a:accent1>
        <a:srgbClr val="1B33E7"/>
      </a:accent1>
      <a:accent2>
        <a:srgbClr val="6699FF"/>
      </a:accent2>
      <a:accent3>
        <a:srgbClr val="FFFFFF"/>
      </a:accent3>
      <a:accent4>
        <a:srgbClr val="000000"/>
      </a:accent4>
      <a:accent5>
        <a:srgbClr val="ABADF1"/>
      </a:accent5>
      <a:accent6>
        <a:srgbClr val="5C8AE7"/>
      </a:accent6>
      <a:hlink>
        <a:srgbClr val="99CCFF"/>
      </a:hlink>
      <a:folHlink>
        <a:srgbClr val="3366CC"/>
      </a:folHlink>
    </a:clrScheme>
    <a:fontScheme name="117TGp_report_diagram_v2">
      <a:majorFont>
        <a:latin typeface="Times New Roman"/>
        <a:ea typeface="楷体_GB2312"/>
        <a:cs typeface=""/>
      </a:majorFont>
      <a:minorFont>
        <a:latin typeface="楷体_GB2312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117TGp_report_diagram_v2 1">
        <a:dk1>
          <a:srgbClr val="000000"/>
        </a:dk1>
        <a:lt1>
          <a:srgbClr val="FFFFFF"/>
        </a:lt1>
        <a:dk2>
          <a:srgbClr val="000798"/>
        </a:dk2>
        <a:lt2>
          <a:srgbClr val="B2B2B2"/>
        </a:lt2>
        <a:accent1>
          <a:srgbClr val="1B33E7"/>
        </a:accent1>
        <a:accent2>
          <a:srgbClr val="6699FF"/>
        </a:accent2>
        <a:accent3>
          <a:srgbClr val="FFFFFF"/>
        </a:accent3>
        <a:accent4>
          <a:srgbClr val="000000"/>
        </a:accent4>
        <a:accent5>
          <a:srgbClr val="ABADF1"/>
        </a:accent5>
        <a:accent6>
          <a:srgbClr val="5C8AE7"/>
        </a:accent6>
        <a:hlink>
          <a:srgbClr val="99CCFF"/>
        </a:hlink>
        <a:folHlink>
          <a:srgbClr val="3366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17TGp_report_diagram_v2 2">
        <a:dk1>
          <a:srgbClr val="000000"/>
        </a:dk1>
        <a:lt1>
          <a:srgbClr val="FFFFFF"/>
        </a:lt1>
        <a:dk2>
          <a:srgbClr val="094332"/>
        </a:dk2>
        <a:lt2>
          <a:srgbClr val="B2B2B2"/>
        </a:lt2>
        <a:accent1>
          <a:srgbClr val="0D6531"/>
        </a:accent1>
        <a:accent2>
          <a:srgbClr val="39AF6E"/>
        </a:accent2>
        <a:accent3>
          <a:srgbClr val="FFFFFF"/>
        </a:accent3>
        <a:accent4>
          <a:srgbClr val="000000"/>
        </a:accent4>
        <a:accent5>
          <a:srgbClr val="AAB8AD"/>
        </a:accent5>
        <a:accent6>
          <a:srgbClr val="339E63"/>
        </a:accent6>
        <a:hlink>
          <a:srgbClr val="93E1A0"/>
        </a:hlink>
        <a:folHlink>
          <a:srgbClr val="1D834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17TGp_report_diagram_v2 3">
        <a:dk1>
          <a:srgbClr val="000000"/>
        </a:dk1>
        <a:lt1>
          <a:srgbClr val="FFFFFF"/>
        </a:lt1>
        <a:dk2>
          <a:srgbClr val="275CA3"/>
        </a:dk2>
        <a:lt2>
          <a:srgbClr val="C0C0C0"/>
        </a:lt2>
        <a:accent1>
          <a:srgbClr val="529EBC"/>
        </a:accent1>
        <a:accent2>
          <a:srgbClr val="55BEE3"/>
        </a:accent2>
        <a:accent3>
          <a:srgbClr val="FFFFFF"/>
        </a:accent3>
        <a:accent4>
          <a:srgbClr val="000000"/>
        </a:accent4>
        <a:accent5>
          <a:srgbClr val="B3CCDA"/>
        </a:accent5>
        <a:accent6>
          <a:srgbClr val="4CACCE"/>
        </a:accent6>
        <a:hlink>
          <a:srgbClr val="9FD4F1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5858</Words>
  <Application>WPS 演示</Application>
  <PresentationFormat>全屏显示(4:3)</PresentationFormat>
  <Paragraphs>615</Paragraphs>
  <Slides>43</Slides>
  <Notes>30</Notes>
  <HiddenSlides>1</HiddenSlides>
  <MMClips>0</MMClips>
  <ScaleCrop>false</ScaleCrop>
  <HeadingPairs>
    <vt:vector size="10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10</vt:i4>
      </vt:variant>
      <vt:variant>
        <vt:lpstr>幻灯片标题</vt:lpstr>
      </vt:variant>
      <vt:variant>
        <vt:i4>43</vt:i4>
      </vt:variant>
      <vt:variant>
        <vt:lpstr>自定义放映</vt:lpstr>
      </vt:variant>
      <vt:variant>
        <vt:i4>1</vt:i4>
      </vt:variant>
    </vt:vector>
  </HeadingPairs>
  <TitlesOfParts>
    <vt:vector size="77" baseType="lpstr">
      <vt:lpstr>Arial</vt:lpstr>
      <vt:lpstr>宋体</vt:lpstr>
      <vt:lpstr>Wingdings</vt:lpstr>
      <vt:lpstr>Times New Roman</vt:lpstr>
      <vt:lpstr>楷体_GB2312</vt:lpstr>
      <vt:lpstr>新宋体</vt:lpstr>
      <vt:lpstr>Lucida Sans Unicode</vt:lpstr>
      <vt:lpstr>楷体_GB2312</vt:lpstr>
      <vt:lpstr>Verdana</vt:lpstr>
      <vt:lpstr>微软雅黑</vt:lpstr>
      <vt:lpstr>黑体</vt:lpstr>
      <vt:lpstr>楷体</vt:lpstr>
      <vt:lpstr>Courier New</vt:lpstr>
      <vt:lpstr>Times New Roman</vt:lpstr>
      <vt:lpstr>Book Antiqua</vt:lpstr>
      <vt:lpstr>Toots Regular</vt:lpstr>
      <vt:lpstr>Arial Unicode MS</vt:lpstr>
      <vt:lpstr>Consolas</vt:lpstr>
      <vt:lpstr>Melanie BT Std Roman</vt:lpstr>
      <vt:lpstr>Sweetie</vt:lpstr>
      <vt:lpstr>Arial Unicode MS</vt:lpstr>
      <vt:lpstr>楷体_GB2312</vt:lpstr>
      <vt:lpstr>主题1</vt:lpstr>
      <vt:lpstr>Word.Picture.8</vt:lpstr>
      <vt:lpstr>Word.Picture.8</vt:lpstr>
      <vt:lpstr>Word.Picture.8</vt:lpstr>
      <vt:lpstr>Word.Picture.8</vt:lpstr>
      <vt:lpstr>Word.Picture.8</vt:lpstr>
      <vt:lpstr>Word.Picture.8</vt:lpstr>
      <vt:lpstr>Word.Picture.8</vt:lpstr>
      <vt:lpstr>Word.Picture.8</vt:lpstr>
      <vt:lpstr>Word.Picture.8</vt:lpstr>
      <vt:lpstr>Paint.Picture</vt:lpstr>
      <vt:lpstr>程序设计原理</vt:lpstr>
      <vt:lpstr>课程内容概览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Custom Show 1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Introduction to Java</dc:title>
  <dc:creator>Y. Daniel Liang</dc:creator>
  <cp:lastModifiedBy>范家睿</cp:lastModifiedBy>
  <cp:revision>499</cp:revision>
  <cp:lastPrinted>1998-02-24T16:19:00Z</cp:lastPrinted>
  <dcterms:created xsi:type="dcterms:W3CDTF">1995-06-10T17:31:00Z</dcterms:created>
  <dcterms:modified xsi:type="dcterms:W3CDTF">2026-01-09T09:50:04Z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00544038E80D430C9D2EDCB41489AA8B_12</vt:lpwstr>
  </property>
  <property fmtid="{D5CDD505-2E9C-101B-9397-08002B2CF9AE}" pid="3" name="KSOProductBuildVer">
    <vt:lpwstr>2052-12.1.0.23542</vt:lpwstr>
  </property>
</Properties>
</file>